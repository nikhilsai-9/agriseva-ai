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1E77A-17B5-424C-8DA8-A240C1931479}" v="5" dt="2026-04-30T10:57:17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ai" userId="72e3e0b6fd12e361" providerId="LiveId" clId="{F898C08E-F426-4AD8-A295-1D63E45155CB}"/>
    <pc:docChg chg="custSel delSld modSld">
      <pc:chgData name="nikhil sai" userId="72e3e0b6fd12e361" providerId="LiveId" clId="{F898C08E-F426-4AD8-A295-1D63E45155CB}" dt="2026-04-30T10:57:17.306" v="41"/>
      <pc:docMkLst>
        <pc:docMk/>
      </pc:docMkLst>
      <pc:sldChg chg="modSp mod">
        <pc:chgData name="nikhil sai" userId="72e3e0b6fd12e361" providerId="LiveId" clId="{F898C08E-F426-4AD8-A295-1D63E45155CB}" dt="2026-04-30T10:57:17.306" v="41"/>
        <pc:sldMkLst>
          <pc:docMk/>
          <pc:sldMk cId="0" sldId="256"/>
        </pc:sldMkLst>
        <pc:spChg chg="mod">
          <ac:chgData name="nikhil sai" userId="72e3e0b6fd12e361" providerId="LiveId" clId="{F898C08E-F426-4AD8-A295-1D63E45155CB}" dt="2026-04-30T10:57:17.306" v="41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nikhil sai" userId="72e3e0b6fd12e361" providerId="LiveId" clId="{F898C08E-F426-4AD8-A295-1D63E45155CB}" dt="2026-04-27T17:13:15.550" v="3" actId="27636"/>
        <pc:sldMkLst>
          <pc:docMk/>
          <pc:sldMk cId="0" sldId="257"/>
        </pc:sldMkLst>
        <pc:spChg chg="mod">
          <ac:chgData name="nikhil sai" userId="72e3e0b6fd12e361" providerId="LiveId" clId="{F898C08E-F426-4AD8-A295-1D63E45155CB}" dt="2026-04-27T17:13:15.550" v="3" actId="2763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nikhil sai" userId="72e3e0b6fd12e361" providerId="LiveId" clId="{F898C08E-F426-4AD8-A295-1D63E45155CB}" dt="2026-04-27T17:18:32.914" v="20" actId="404"/>
        <pc:sldMkLst>
          <pc:docMk/>
          <pc:sldMk cId="0" sldId="260"/>
        </pc:sldMkLst>
        <pc:graphicFrameChg chg="modGraphic">
          <ac:chgData name="nikhil sai" userId="72e3e0b6fd12e361" providerId="LiveId" clId="{F898C08E-F426-4AD8-A295-1D63E45155CB}" dt="2026-04-27T17:18:32.914" v="20" actId="404"/>
          <ac:graphicFrameMkLst>
            <pc:docMk/>
            <pc:sldMk cId="0" sldId="260"/>
            <ac:graphicFrameMk id="9" creationId="{00000000-0000-0000-0000-000000000000}"/>
          </ac:graphicFrameMkLst>
        </pc:graphicFrameChg>
      </pc:sldChg>
      <pc:sldChg chg="modSp mod">
        <pc:chgData name="nikhil sai" userId="72e3e0b6fd12e361" providerId="LiveId" clId="{F898C08E-F426-4AD8-A295-1D63E45155CB}" dt="2026-04-27T17:19:06.339" v="29" actId="404"/>
        <pc:sldMkLst>
          <pc:docMk/>
          <pc:sldMk cId="0" sldId="261"/>
        </pc:sldMkLst>
        <pc:graphicFrameChg chg="modGraphic">
          <ac:chgData name="nikhil sai" userId="72e3e0b6fd12e361" providerId="LiveId" clId="{F898C08E-F426-4AD8-A295-1D63E45155CB}" dt="2026-04-27T17:19:06.339" v="29" actId="404"/>
          <ac:graphicFrameMkLst>
            <pc:docMk/>
            <pc:sldMk cId="0" sldId="261"/>
            <ac:graphicFrameMk id="10" creationId="{00000000-0000-0000-0000-000000000000}"/>
          </ac:graphicFrameMkLst>
        </pc:graphicFrameChg>
      </pc:sldChg>
      <pc:sldChg chg="modSp mod">
        <pc:chgData name="nikhil sai" userId="72e3e0b6fd12e361" providerId="LiveId" clId="{F898C08E-F426-4AD8-A295-1D63E45155CB}" dt="2026-04-27T17:19:22.445" v="36" actId="403"/>
        <pc:sldMkLst>
          <pc:docMk/>
          <pc:sldMk cId="0" sldId="262"/>
        </pc:sldMkLst>
        <pc:graphicFrameChg chg="modGraphic">
          <ac:chgData name="nikhil sai" userId="72e3e0b6fd12e361" providerId="LiveId" clId="{F898C08E-F426-4AD8-A295-1D63E45155CB}" dt="2026-04-27T17:19:22.445" v="36" actId="403"/>
          <ac:graphicFrameMkLst>
            <pc:docMk/>
            <pc:sldMk cId="0" sldId="262"/>
            <ac:graphicFrameMk id="10" creationId="{00000000-0000-0000-0000-000000000000}"/>
          </ac:graphicFrameMkLst>
        </pc:graphicFrameChg>
      </pc:sldChg>
      <pc:sldChg chg="addSp modSp mod">
        <pc:chgData name="nikhil sai" userId="72e3e0b6fd12e361" providerId="LiveId" clId="{F898C08E-F426-4AD8-A295-1D63E45155CB}" dt="2026-04-27T17:14:37.330" v="11" actId="1076"/>
        <pc:sldMkLst>
          <pc:docMk/>
          <pc:sldMk cId="0" sldId="265"/>
        </pc:sldMkLst>
        <pc:spChg chg="add mod">
          <ac:chgData name="nikhil sai" userId="72e3e0b6fd12e361" providerId="LiveId" clId="{F898C08E-F426-4AD8-A295-1D63E45155CB}" dt="2026-04-27T17:14:29.476" v="9" actId="1076"/>
          <ac:spMkLst>
            <pc:docMk/>
            <pc:sldMk cId="0" sldId="265"/>
            <ac:spMk id="40" creationId="{C7659B63-F88B-813D-2FEB-98679BAE079E}"/>
          </ac:spMkLst>
        </pc:spChg>
        <pc:spChg chg="add mod">
          <ac:chgData name="nikhil sai" userId="72e3e0b6fd12e361" providerId="LiveId" clId="{F898C08E-F426-4AD8-A295-1D63E45155CB}" dt="2026-04-27T17:14:37.330" v="11" actId="1076"/>
          <ac:spMkLst>
            <pc:docMk/>
            <pc:sldMk cId="0" sldId="265"/>
            <ac:spMk id="41" creationId="{54826140-A118-51F0-DD5D-569C055D6A7B}"/>
          </ac:spMkLst>
        </pc:spChg>
      </pc:sldChg>
      <pc:sldChg chg="del">
        <pc:chgData name="nikhil sai" userId="72e3e0b6fd12e361" providerId="LiveId" clId="{F898C08E-F426-4AD8-A295-1D63E45155CB}" dt="2026-04-30T10:55:44.386" v="37" actId="2696"/>
        <pc:sldMkLst>
          <pc:docMk/>
          <pc:sldMk cId="0" sldId="268"/>
        </pc:sldMkLst>
      </pc:sldChg>
      <pc:sldChg chg="del">
        <pc:chgData name="nikhil sai" userId="72e3e0b6fd12e361" providerId="LiveId" clId="{F898C08E-F426-4AD8-A295-1D63E45155CB}" dt="2026-04-30T10:55:46.571" v="38" actId="2696"/>
        <pc:sldMkLst>
          <pc:docMk/>
          <pc:sldMk cId="0" sldId="269"/>
        </pc:sldMkLst>
      </pc:sldChg>
      <pc:sldChg chg="addSp delSp modSp mod">
        <pc:chgData name="nikhil sai" userId="72e3e0b6fd12e361" providerId="LiveId" clId="{F898C08E-F426-4AD8-A295-1D63E45155CB}" dt="2026-04-27T17:13:50.215" v="7" actId="1076"/>
        <pc:sldMkLst>
          <pc:docMk/>
          <pc:sldMk cId="0" sldId="270"/>
        </pc:sldMkLst>
        <pc:graphicFrameChg chg="add mod">
          <ac:chgData name="nikhil sai" userId="72e3e0b6fd12e361" providerId="LiveId" clId="{F898C08E-F426-4AD8-A295-1D63E45155CB}" dt="2026-04-27T17:13:50.215" v="7" actId="1076"/>
          <ac:graphicFrameMkLst>
            <pc:docMk/>
            <pc:sldMk cId="0" sldId="270"/>
            <ac:graphicFrameMk id="12" creationId="{BE4998A2-81F8-99AC-1287-E9F592898295}"/>
          </ac:graphicFrameMkLst>
        </pc:graphicFrameChg>
      </pc:sldChg>
      <pc:sldChg chg="del">
        <pc:chgData name="nikhil sai" userId="72e3e0b6fd12e361" providerId="LiveId" clId="{F898C08E-F426-4AD8-A295-1D63E45155CB}" dt="2026-04-30T10:55:49.881" v="39" actId="2696"/>
        <pc:sldMkLst>
          <pc:docMk/>
          <pc:sldMk cId="0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04A5E-B2AA-4054-A7B4-036B3C731B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5A26E8-8E5A-43B0-B907-090D37F1D481}">
      <dgm:prSet/>
      <dgm:spPr/>
      <dgm:t>
        <a:bodyPr/>
        <a:lstStyle/>
        <a:p>
          <a:r>
            <a:rPr lang="en-US" dirty="0"/>
            <a:t>[1] D. A. García-Barrios, “Epistemic partner or cognitive crutch: A conceptual model of cognitive offloading in human–artificial intelligence collaboration,” </a:t>
          </a:r>
          <a:r>
            <a:rPr lang="en-US" i="1" dirty="0"/>
            <a:t>IEEE</a:t>
          </a:r>
          <a:r>
            <a:rPr lang="en-US" dirty="0"/>
            <a:t>, pp. 7–8, Jan. 2026, </a:t>
          </a:r>
          <a:r>
            <a:rPr lang="en-US" dirty="0" err="1"/>
            <a:t>doi</a:t>
          </a:r>
          <a:r>
            <a:rPr lang="en-US" dirty="0"/>
            <a:t>: 10.1109/MIC.2025.3626694. </a:t>
          </a:r>
        </a:p>
        <a:p>
          <a:r>
            <a:rPr lang="en-US" dirty="0"/>
            <a:t>[2] R. Varghese, Ananya R., N. V., Sagarika T. H., and Sanjana N., “Smart crutches using IOT,” Int. J. </a:t>
          </a:r>
          <a:r>
            <a:rPr lang="en-US" dirty="0" err="1"/>
            <a:t>Innov</a:t>
          </a:r>
          <a:r>
            <a:rPr lang="en-US" dirty="0"/>
            <a:t>. Res. Sci. Eng. Technol. (IJIRSET), vol. 13, no. 8, pp. 15549-15551, Aug. 2024. </a:t>
          </a:r>
        </a:p>
      </dgm:t>
    </dgm:pt>
    <dgm:pt modelId="{0E2600A5-8518-48DF-879E-A010C546A328}" type="parTrans" cxnId="{5378A769-E806-48EC-BA11-F21A1D382149}">
      <dgm:prSet/>
      <dgm:spPr/>
      <dgm:t>
        <a:bodyPr/>
        <a:lstStyle/>
        <a:p>
          <a:endParaRPr lang="en-US"/>
        </a:p>
      </dgm:t>
    </dgm:pt>
    <dgm:pt modelId="{81109511-41B1-43D6-A782-B3F48E1FAC66}" type="sibTrans" cxnId="{5378A769-E806-48EC-BA11-F21A1D382149}">
      <dgm:prSet/>
      <dgm:spPr/>
      <dgm:t>
        <a:bodyPr/>
        <a:lstStyle/>
        <a:p>
          <a:endParaRPr lang="en-US"/>
        </a:p>
      </dgm:t>
    </dgm:pt>
    <dgm:pt modelId="{43ED1D35-E235-475D-9FE7-4F0EF98110B1}">
      <dgm:prSet/>
      <dgm:spPr/>
      <dgm:t>
        <a:bodyPr/>
        <a:lstStyle/>
        <a:p>
          <a:r>
            <a:rPr lang="en-US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r>
            <a:rPr lang="en-US" dirty="0"/>
            <a:t>[6] V. A. </a:t>
          </a:r>
          <a:r>
            <a:rPr lang="en-US" dirty="0" err="1"/>
            <a:t>Arcobelli</a:t>
          </a:r>
          <a:r>
            <a:rPr lang="en-US" dirty="0"/>
            <a:t>, M. </a:t>
          </a:r>
          <a:r>
            <a:rPr lang="en-US" dirty="0" err="1"/>
            <a:t>Zauli</a:t>
          </a:r>
          <a:r>
            <a:rPr lang="en-US" dirty="0"/>
            <a:t>, G. </a:t>
          </a:r>
          <a:r>
            <a:rPr lang="en-US" dirty="0" err="1"/>
            <a:t>Galteri</a:t>
          </a:r>
          <a:r>
            <a:rPr lang="en-US" dirty="0"/>
            <a:t>, L. </a:t>
          </a:r>
          <a:r>
            <a:rPr lang="en-US" dirty="0" err="1"/>
            <a:t>Cristofolini</a:t>
          </a:r>
          <a:r>
            <a:rPr lang="en-US" dirty="0"/>
            <a:t>, L. Chiari, A. Cappello and L. De Marchi,“</a:t>
          </a:r>
          <a:r>
            <a:rPr lang="en-US" dirty="0" err="1"/>
            <a:t>mCrutch</a:t>
          </a:r>
          <a:r>
            <a:rPr lang="en-US" dirty="0"/>
            <a:t>: A Novel m-Health Approach Supporting Continuity of Care,”  Sensors, vol. 23, no. 8, 2023, </a:t>
          </a:r>
          <a:r>
            <a:rPr lang="en-US" dirty="0" err="1"/>
            <a:t>doi</a:t>
          </a:r>
          <a:r>
            <a:rPr lang="en-US" dirty="0"/>
            <a:t>: 10.3390/s23084151.</a:t>
          </a:r>
        </a:p>
      </dgm:t>
    </dgm:pt>
    <dgm:pt modelId="{9DCC5BE0-320A-4C87-9FF2-8B517D37D543}" type="parTrans" cxnId="{68253415-C7F4-4B37-9029-43910D8DE008}">
      <dgm:prSet/>
      <dgm:spPr/>
      <dgm:t>
        <a:bodyPr/>
        <a:lstStyle/>
        <a:p>
          <a:endParaRPr lang="en-US"/>
        </a:p>
      </dgm:t>
    </dgm:pt>
    <dgm:pt modelId="{75B0883E-C814-4D75-9A8D-4F1A0AB9D3FF}" type="sibTrans" cxnId="{68253415-C7F4-4B37-9029-43910D8DE008}">
      <dgm:prSet/>
      <dgm:spPr/>
      <dgm:t>
        <a:bodyPr/>
        <a:lstStyle/>
        <a:p>
          <a:endParaRPr lang="en-US"/>
        </a:p>
      </dgm:t>
    </dgm:pt>
    <dgm:pt modelId="{8D69A132-56F6-4CC6-80A7-F34A0AA8B551}">
      <dgm:prSet/>
      <dgm:spPr/>
      <dgm:t>
        <a:bodyPr/>
        <a:lstStyle/>
        <a:p>
          <a:r>
            <a:rPr lang="en-US" dirty="0"/>
            <a:t>[7] P. P. Sarkar, M. A. Tohin, M. A. Khaled, and M. S. Rahman, “Implementation of an instrumented crutch with scalable E-care architecture using IoT,” in </a:t>
          </a:r>
          <a:r>
            <a:rPr lang="en-US" i="1" dirty="0"/>
            <a:t>Proc. 2020 IEEE Region 10 Symposium (TENSYMP)</a:t>
          </a:r>
          <a:r>
            <a:rPr lang="en-US" dirty="0"/>
            <a:t>, 2020, pp. 242-245. </a:t>
          </a:r>
        </a:p>
        <a:p>
          <a:r>
            <a:rPr lang="en-US" dirty="0"/>
            <a:t>[8] R. Sugiyama, N. Tsuda, N. Kato, and Y. Nomura, “Modelling of crutch walk training system with falling sensation device,” in </a:t>
          </a:r>
          <a:r>
            <a:rPr lang="en-US" i="1" dirty="0"/>
            <a:t>Proc. 2018 IEEE Int. Conf. Systems, Man, and Cybernetics (SMC)</a:t>
          </a:r>
          <a:r>
            <a:rPr lang="en-US" dirty="0"/>
            <a:t>, 2018.</a:t>
          </a:r>
        </a:p>
      </dgm:t>
    </dgm:pt>
    <dgm:pt modelId="{EAF422DF-ECA2-4EC0-A0C0-CC881AD8F8F2}" type="parTrans" cxnId="{E1B1E759-85AC-4145-BB51-BA35F4E79D8D}">
      <dgm:prSet/>
      <dgm:spPr/>
      <dgm:t>
        <a:bodyPr/>
        <a:lstStyle/>
        <a:p>
          <a:endParaRPr lang="en-US"/>
        </a:p>
      </dgm:t>
    </dgm:pt>
    <dgm:pt modelId="{8A78D220-7066-404D-A32E-774A6EB97DA4}" type="sibTrans" cxnId="{E1B1E759-85AC-4145-BB51-BA35F4E79D8D}">
      <dgm:prSet/>
      <dgm:spPr/>
      <dgm:t>
        <a:bodyPr/>
        <a:lstStyle/>
        <a:p>
          <a:endParaRPr lang="en-US"/>
        </a:p>
      </dgm:t>
    </dgm:pt>
    <dgm:pt modelId="{5E78B03F-4F60-4B45-A4F5-851622CE1CCB}">
      <dgm:prSet/>
      <dgm:spPr/>
      <dgm:t>
        <a:bodyPr/>
        <a:lstStyle/>
        <a:p>
          <a:r>
            <a:rPr lang="en-US" dirty="0"/>
            <a:t>[3] Z. Guo, Y. Li, Y. Wang, H. Liu, R. Guo, J. Ma, X. Wu, D. Jiang, </a:t>
          </a:r>
          <a:r>
            <a:rPr lang="en-US" dirty="0" err="1"/>
            <a:t>T.Ren</a:t>
          </a:r>
          <a:r>
            <a:rPr lang="en-US" dirty="0"/>
            <a:t>, “Intelligent diagnosis and predictive rehabilitation assessment of chronic ankle instability using shoe-integrated sensor system,” IEEE Trans. Neural Syst. </a:t>
          </a:r>
          <a:r>
            <a:rPr lang="en-US" dirty="0" err="1"/>
            <a:t>Rehabil</a:t>
          </a:r>
          <a:r>
            <a:rPr lang="en-US" dirty="0"/>
            <a:t>. Eng., vol. 33, 2025.</a:t>
          </a:r>
        </a:p>
        <a:p>
          <a:r>
            <a:rPr lang="en-US" dirty="0"/>
            <a:t> [4] B. </a:t>
          </a:r>
          <a:r>
            <a:rPr lang="en-US" dirty="0" err="1"/>
            <a:t>Naets</a:t>
          </a:r>
          <a:r>
            <a:rPr lang="en-US" dirty="0"/>
            <a:t>, Z. Guo, Y. Li, Y. Wang, H. Liu, J. Ma, X. Wu, T. Ren, D. Jiang, and R. Guo, “Smart walker design for clinical rehabilitation,” IEEE,2022, doi:10.1109/ACCESS.2022.2973815. </a:t>
          </a:r>
        </a:p>
      </dgm:t>
    </dgm:pt>
    <dgm:pt modelId="{6D77A1BD-5499-4DAA-B766-0133DC676BC0}" type="parTrans" cxnId="{F8D8056B-68D8-4D45-85CB-0D6106153F99}">
      <dgm:prSet/>
      <dgm:spPr/>
      <dgm:t>
        <a:bodyPr/>
        <a:lstStyle/>
        <a:p>
          <a:endParaRPr lang="en-IN"/>
        </a:p>
      </dgm:t>
    </dgm:pt>
    <dgm:pt modelId="{F842C45C-E243-474A-A6D2-8AC5D1EA7D78}" type="sibTrans" cxnId="{F8D8056B-68D8-4D45-85CB-0D6106153F99}">
      <dgm:prSet/>
      <dgm:spPr/>
      <dgm:t>
        <a:bodyPr/>
        <a:lstStyle/>
        <a:p>
          <a:endParaRPr lang="en-IN"/>
        </a:p>
      </dgm:t>
    </dgm:pt>
    <dgm:pt modelId="{B1113A3E-CB05-42A1-B85B-E3503A06CB0B}" type="pres">
      <dgm:prSet presAssocID="{A5C04A5E-B2AA-4054-A7B4-036B3C731BFF}" presName="vert0" presStyleCnt="0">
        <dgm:presLayoutVars>
          <dgm:dir/>
          <dgm:animOne val="branch"/>
          <dgm:animLvl val="lvl"/>
        </dgm:presLayoutVars>
      </dgm:prSet>
      <dgm:spPr/>
    </dgm:pt>
    <dgm:pt modelId="{F632A448-F53A-4E90-80BA-B18CDBC02BCB}" type="pres">
      <dgm:prSet presAssocID="{3E5A26E8-8E5A-43B0-B907-090D37F1D481}" presName="thickLine" presStyleLbl="alignNode1" presStyleIdx="0" presStyleCnt="4"/>
      <dgm:spPr/>
    </dgm:pt>
    <dgm:pt modelId="{C651CEF8-96B9-4F04-9461-5A207A94E265}" type="pres">
      <dgm:prSet presAssocID="{3E5A26E8-8E5A-43B0-B907-090D37F1D481}" presName="horz1" presStyleCnt="0"/>
      <dgm:spPr/>
    </dgm:pt>
    <dgm:pt modelId="{696DE360-45FD-49CB-9D40-1B0935DEB859}" type="pres">
      <dgm:prSet presAssocID="{3E5A26E8-8E5A-43B0-B907-090D37F1D481}" presName="tx1" presStyleLbl="revTx" presStyleIdx="0" presStyleCnt="4" custScaleY="54274"/>
      <dgm:spPr/>
    </dgm:pt>
    <dgm:pt modelId="{61B44B71-19AF-4FBB-9609-8BE31565728F}" type="pres">
      <dgm:prSet presAssocID="{3E5A26E8-8E5A-43B0-B907-090D37F1D481}" presName="vert1" presStyleCnt="0"/>
      <dgm:spPr/>
    </dgm:pt>
    <dgm:pt modelId="{1C3C043C-D26A-4C68-B5D5-9F8877398A9F}" type="pres">
      <dgm:prSet presAssocID="{5E78B03F-4F60-4B45-A4F5-851622CE1CCB}" presName="thickLine" presStyleLbl="alignNode1" presStyleIdx="1" presStyleCnt="4"/>
      <dgm:spPr/>
    </dgm:pt>
    <dgm:pt modelId="{990A7CD0-0071-419B-A114-65C41BEFDBCE}" type="pres">
      <dgm:prSet presAssocID="{5E78B03F-4F60-4B45-A4F5-851622CE1CCB}" presName="horz1" presStyleCnt="0"/>
      <dgm:spPr/>
    </dgm:pt>
    <dgm:pt modelId="{B6F2A402-C23A-4B92-B179-8C53CA717EDC}" type="pres">
      <dgm:prSet presAssocID="{5E78B03F-4F60-4B45-A4F5-851622CE1CCB}" presName="tx1" presStyleLbl="revTx" presStyleIdx="1" presStyleCnt="4" custScaleY="74693"/>
      <dgm:spPr/>
    </dgm:pt>
    <dgm:pt modelId="{A8529619-94A0-4D16-B958-C4A0C4DD0590}" type="pres">
      <dgm:prSet presAssocID="{5E78B03F-4F60-4B45-A4F5-851622CE1CCB}" presName="vert1" presStyleCnt="0"/>
      <dgm:spPr/>
    </dgm:pt>
    <dgm:pt modelId="{688AB2CF-DAC9-4E84-9848-B4C397B6070C}" type="pres">
      <dgm:prSet presAssocID="{43ED1D35-E235-475D-9FE7-4F0EF98110B1}" presName="thickLine" presStyleLbl="alignNode1" presStyleIdx="2" presStyleCnt="4"/>
      <dgm:spPr/>
    </dgm:pt>
    <dgm:pt modelId="{6E833D09-717C-487F-A9B0-30E9B9A4E1B2}" type="pres">
      <dgm:prSet presAssocID="{43ED1D35-E235-475D-9FE7-4F0EF98110B1}" presName="horz1" presStyleCnt="0"/>
      <dgm:spPr/>
    </dgm:pt>
    <dgm:pt modelId="{0CFC215A-C665-4A2A-80EE-787A6BBE137F}" type="pres">
      <dgm:prSet presAssocID="{43ED1D35-E235-475D-9FE7-4F0EF98110B1}" presName="tx1" presStyleLbl="revTx" presStyleIdx="2" presStyleCnt="4" custScaleY="70537"/>
      <dgm:spPr/>
    </dgm:pt>
    <dgm:pt modelId="{4EED796C-562B-4679-8105-6D30226D4F44}" type="pres">
      <dgm:prSet presAssocID="{43ED1D35-E235-475D-9FE7-4F0EF98110B1}" presName="vert1" presStyleCnt="0"/>
      <dgm:spPr/>
    </dgm:pt>
    <dgm:pt modelId="{180A8687-9E6C-4F3A-943F-A4526E04CCB4}" type="pres">
      <dgm:prSet presAssocID="{8D69A132-56F6-4CC6-80A7-F34A0AA8B551}" presName="thickLine" presStyleLbl="alignNode1" presStyleIdx="3" presStyleCnt="4"/>
      <dgm:spPr/>
    </dgm:pt>
    <dgm:pt modelId="{FB3A31B2-5423-4109-93D8-C7C202D47EAC}" type="pres">
      <dgm:prSet presAssocID="{8D69A132-56F6-4CC6-80A7-F34A0AA8B551}" presName="horz1" presStyleCnt="0"/>
      <dgm:spPr/>
    </dgm:pt>
    <dgm:pt modelId="{F2227E8A-FC28-4A79-9E32-03F006403AB9}" type="pres">
      <dgm:prSet presAssocID="{8D69A132-56F6-4CC6-80A7-F34A0AA8B551}" presName="tx1" presStyleLbl="revTx" presStyleIdx="3" presStyleCnt="4"/>
      <dgm:spPr/>
    </dgm:pt>
    <dgm:pt modelId="{5C5CDA4D-64E1-409D-9E51-13B394000A27}" type="pres">
      <dgm:prSet presAssocID="{8D69A132-56F6-4CC6-80A7-F34A0AA8B551}" presName="vert1" presStyleCnt="0"/>
      <dgm:spPr/>
    </dgm:pt>
  </dgm:ptLst>
  <dgm:cxnLst>
    <dgm:cxn modelId="{68253415-C7F4-4B37-9029-43910D8DE008}" srcId="{A5C04A5E-B2AA-4054-A7B4-036B3C731BFF}" destId="{43ED1D35-E235-475D-9FE7-4F0EF98110B1}" srcOrd="2" destOrd="0" parTransId="{9DCC5BE0-320A-4C87-9FF2-8B517D37D543}" sibTransId="{75B0883E-C814-4D75-9A8D-4F1A0AB9D3FF}"/>
    <dgm:cxn modelId="{6C548125-F556-452F-A203-092AE14814D1}" type="presOf" srcId="{43ED1D35-E235-475D-9FE7-4F0EF98110B1}" destId="{0CFC215A-C665-4A2A-80EE-787A6BBE137F}" srcOrd="0" destOrd="0" presId="urn:microsoft.com/office/officeart/2008/layout/LinedList"/>
    <dgm:cxn modelId="{A6AD152D-2221-4778-9EEA-6DE3DB1AB35E}" type="presOf" srcId="{3E5A26E8-8E5A-43B0-B907-090D37F1D481}" destId="{696DE360-45FD-49CB-9D40-1B0935DEB859}" srcOrd="0" destOrd="0" presId="urn:microsoft.com/office/officeart/2008/layout/LinedList"/>
    <dgm:cxn modelId="{E2BE1F44-A854-4640-8510-19C71D422F6A}" type="presOf" srcId="{5E78B03F-4F60-4B45-A4F5-851622CE1CCB}" destId="{B6F2A402-C23A-4B92-B179-8C53CA717EDC}" srcOrd="0" destOrd="0" presId="urn:microsoft.com/office/officeart/2008/layout/LinedList"/>
    <dgm:cxn modelId="{5378A769-E806-48EC-BA11-F21A1D382149}" srcId="{A5C04A5E-B2AA-4054-A7B4-036B3C731BFF}" destId="{3E5A26E8-8E5A-43B0-B907-090D37F1D481}" srcOrd="0" destOrd="0" parTransId="{0E2600A5-8518-48DF-879E-A010C546A328}" sibTransId="{81109511-41B1-43D6-A782-B3F48E1FAC66}"/>
    <dgm:cxn modelId="{F8D8056B-68D8-4D45-85CB-0D6106153F99}" srcId="{A5C04A5E-B2AA-4054-A7B4-036B3C731BFF}" destId="{5E78B03F-4F60-4B45-A4F5-851622CE1CCB}" srcOrd="1" destOrd="0" parTransId="{6D77A1BD-5499-4DAA-B766-0133DC676BC0}" sibTransId="{F842C45C-E243-474A-A6D2-8AC5D1EA7D78}"/>
    <dgm:cxn modelId="{E1B1E759-85AC-4145-BB51-BA35F4E79D8D}" srcId="{A5C04A5E-B2AA-4054-A7B4-036B3C731BFF}" destId="{8D69A132-56F6-4CC6-80A7-F34A0AA8B551}" srcOrd="3" destOrd="0" parTransId="{EAF422DF-ECA2-4EC0-A0C0-CC881AD8F8F2}" sibTransId="{8A78D220-7066-404D-A32E-774A6EB97DA4}"/>
    <dgm:cxn modelId="{CFB66E82-50AD-40D7-A758-835C4542B929}" type="presOf" srcId="{A5C04A5E-B2AA-4054-A7B4-036B3C731BFF}" destId="{B1113A3E-CB05-42A1-B85B-E3503A06CB0B}" srcOrd="0" destOrd="0" presId="urn:microsoft.com/office/officeart/2008/layout/LinedList"/>
    <dgm:cxn modelId="{14CF72C2-AA72-4CAF-BBE7-12F7096B8468}" type="presOf" srcId="{8D69A132-56F6-4CC6-80A7-F34A0AA8B551}" destId="{F2227E8A-FC28-4A79-9E32-03F006403AB9}" srcOrd="0" destOrd="0" presId="urn:microsoft.com/office/officeart/2008/layout/LinedList"/>
    <dgm:cxn modelId="{84B2B132-5301-42C0-9530-89B9B26BFE0D}" type="presParOf" srcId="{B1113A3E-CB05-42A1-B85B-E3503A06CB0B}" destId="{F632A448-F53A-4E90-80BA-B18CDBC02BCB}" srcOrd="0" destOrd="0" presId="urn:microsoft.com/office/officeart/2008/layout/LinedList"/>
    <dgm:cxn modelId="{2E40A28D-26C6-4016-B8A9-703D3B37DCB3}" type="presParOf" srcId="{B1113A3E-CB05-42A1-B85B-E3503A06CB0B}" destId="{C651CEF8-96B9-4F04-9461-5A207A94E265}" srcOrd="1" destOrd="0" presId="urn:microsoft.com/office/officeart/2008/layout/LinedList"/>
    <dgm:cxn modelId="{38871396-3C02-4E03-82B6-66ECD971243B}" type="presParOf" srcId="{C651CEF8-96B9-4F04-9461-5A207A94E265}" destId="{696DE360-45FD-49CB-9D40-1B0935DEB859}" srcOrd="0" destOrd="0" presId="urn:microsoft.com/office/officeart/2008/layout/LinedList"/>
    <dgm:cxn modelId="{A749B848-B41E-4E5B-B233-1E6D6DB0A74A}" type="presParOf" srcId="{C651CEF8-96B9-4F04-9461-5A207A94E265}" destId="{61B44B71-19AF-4FBB-9609-8BE31565728F}" srcOrd="1" destOrd="0" presId="urn:microsoft.com/office/officeart/2008/layout/LinedList"/>
    <dgm:cxn modelId="{2C2D62BA-2F59-412C-B146-EA34A7A81E47}" type="presParOf" srcId="{B1113A3E-CB05-42A1-B85B-E3503A06CB0B}" destId="{1C3C043C-D26A-4C68-B5D5-9F8877398A9F}" srcOrd="2" destOrd="0" presId="urn:microsoft.com/office/officeart/2008/layout/LinedList"/>
    <dgm:cxn modelId="{BAB55469-C369-40E7-B524-16755814883E}" type="presParOf" srcId="{B1113A3E-CB05-42A1-B85B-E3503A06CB0B}" destId="{990A7CD0-0071-419B-A114-65C41BEFDBCE}" srcOrd="3" destOrd="0" presId="urn:microsoft.com/office/officeart/2008/layout/LinedList"/>
    <dgm:cxn modelId="{D8ADF9C4-A520-445E-B59A-8758966DB9F5}" type="presParOf" srcId="{990A7CD0-0071-419B-A114-65C41BEFDBCE}" destId="{B6F2A402-C23A-4B92-B179-8C53CA717EDC}" srcOrd="0" destOrd="0" presId="urn:microsoft.com/office/officeart/2008/layout/LinedList"/>
    <dgm:cxn modelId="{B9AF4022-E2B6-4D9A-B747-35D62587F69B}" type="presParOf" srcId="{990A7CD0-0071-419B-A114-65C41BEFDBCE}" destId="{A8529619-94A0-4D16-B958-C4A0C4DD0590}" srcOrd="1" destOrd="0" presId="urn:microsoft.com/office/officeart/2008/layout/LinedList"/>
    <dgm:cxn modelId="{F64CA62A-045A-4DB9-8B24-523316763913}" type="presParOf" srcId="{B1113A3E-CB05-42A1-B85B-E3503A06CB0B}" destId="{688AB2CF-DAC9-4E84-9848-B4C397B6070C}" srcOrd="4" destOrd="0" presId="urn:microsoft.com/office/officeart/2008/layout/LinedList"/>
    <dgm:cxn modelId="{E19F2E21-5F7B-4D9C-9555-D611CD4E1A5B}" type="presParOf" srcId="{B1113A3E-CB05-42A1-B85B-E3503A06CB0B}" destId="{6E833D09-717C-487F-A9B0-30E9B9A4E1B2}" srcOrd="5" destOrd="0" presId="urn:microsoft.com/office/officeart/2008/layout/LinedList"/>
    <dgm:cxn modelId="{1EDF7A52-6E30-4ACE-962B-1227E1FECE54}" type="presParOf" srcId="{6E833D09-717C-487F-A9B0-30E9B9A4E1B2}" destId="{0CFC215A-C665-4A2A-80EE-787A6BBE137F}" srcOrd="0" destOrd="0" presId="urn:microsoft.com/office/officeart/2008/layout/LinedList"/>
    <dgm:cxn modelId="{93CC2C71-25EC-4142-BC14-0E960FE04042}" type="presParOf" srcId="{6E833D09-717C-487F-A9B0-30E9B9A4E1B2}" destId="{4EED796C-562B-4679-8105-6D30226D4F44}" srcOrd="1" destOrd="0" presId="urn:microsoft.com/office/officeart/2008/layout/LinedList"/>
    <dgm:cxn modelId="{6B0F6AB1-3AF0-4E48-B505-BED826E30EBF}" type="presParOf" srcId="{B1113A3E-CB05-42A1-B85B-E3503A06CB0B}" destId="{180A8687-9E6C-4F3A-943F-A4526E04CCB4}" srcOrd="6" destOrd="0" presId="urn:microsoft.com/office/officeart/2008/layout/LinedList"/>
    <dgm:cxn modelId="{8B2375DF-ABBF-4951-8E7A-27CFB33BF2E3}" type="presParOf" srcId="{B1113A3E-CB05-42A1-B85B-E3503A06CB0B}" destId="{FB3A31B2-5423-4109-93D8-C7C202D47EAC}" srcOrd="7" destOrd="0" presId="urn:microsoft.com/office/officeart/2008/layout/LinedList"/>
    <dgm:cxn modelId="{E603DE6A-637F-4FBB-A41A-23A4FAF3DEE7}" type="presParOf" srcId="{FB3A31B2-5423-4109-93D8-C7C202D47EAC}" destId="{F2227E8A-FC28-4A79-9E32-03F006403AB9}" srcOrd="0" destOrd="0" presId="urn:microsoft.com/office/officeart/2008/layout/LinedList"/>
    <dgm:cxn modelId="{2A7F89F2-F0C3-4E47-B2C7-16920F98FC9C}" type="presParOf" srcId="{FB3A31B2-5423-4109-93D8-C7C202D47EAC}" destId="{5C5CDA4D-64E1-409D-9E51-13B394000A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2A448-F53A-4E90-80BA-B18CDBC02BCB}">
      <dsp:nvSpPr>
        <dsp:cNvPr id="0" name=""/>
        <dsp:cNvSpPr/>
      </dsp:nvSpPr>
      <dsp:spPr>
        <a:xfrm>
          <a:off x="0" y="2931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DE360-45FD-49CB-9D40-1B0935DEB859}">
      <dsp:nvSpPr>
        <dsp:cNvPr id="0" name=""/>
        <dsp:cNvSpPr/>
      </dsp:nvSpPr>
      <dsp:spPr>
        <a:xfrm>
          <a:off x="0" y="2931"/>
          <a:ext cx="8058150" cy="91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[1] D. A. García-Barrios, “Epistemic partner or cognitive crutch: A conceptual model of cognitive offloading in human–artificial intelligence collaboration,” </a:t>
          </a:r>
          <a:r>
            <a:rPr lang="en-US" sz="1300" i="1" kern="1200" dirty="0"/>
            <a:t>IEEE</a:t>
          </a:r>
          <a:r>
            <a:rPr lang="en-US" sz="1300" kern="1200" dirty="0"/>
            <a:t>, pp. 7–8, Jan. 2026, </a:t>
          </a:r>
          <a:r>
            <a:rPr lang="en-US" sz="1300" kern="1200" dirty="0" err="1"/>
            <a:t>doi</a:t>
          </a:r>
          <a:r>
            <a:rPr lang="en-US" sz="1300" kern="1200" dirty="0"/>
            <a:t>: 10.1109/MIC.2025.3626694.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[2] R. Varghese, Ananya R., N. V., Sagarika T. H., and Sanjana N., “Smart crutches using IOT,” Int. J. </a:t>
          </a:r>
          <a:r>
            <a:rPr lang="en-US" sz="1300" kern="1200" dirty="0" err="1"/>
            <a:t>Innov</a:t>
          </a:r>
          <a:r>
            <a:rPr lang="en-US" sz="1300" kern="1200" dirty="0"/>
            <a:t>. Res. Sci. Eng. Technol. (IJIRSET), vol. 13, no. 8, pp. 15549-15551, Aug. 2024. </a:t>
          </a:r>
        </a:p>
      </dsp:txBody>
      <dsp:txXfrm>
        <a:off x="0" y="2931"/>
        <a:ext cx="8058150" cy="910293"/>
      </dsp:txXfrm>
    </dsp:sp>
    <dsp:sp modelId="{1C3C043C-D26A-4C68-B5D5-9F8877398A9F}">
      <dsp:nvSpPr>
        <dsp:cNvPr id="0" name=""/>
        <dsp:cNvSpPr/>
      </dsp:nvSpPr>
      <dsp:spPr>
        <a:xfrm>
          <a:off x="0" y="913225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2A402-C23A-4B92-B179-8C53CA717EDC}">
      <dsp:nvSpPr>
        <dsp:cNvPr id="0" name=""/>
        <dsp:cNvSpPr/>
      </dsp:nvSpPr>
      <dsp:spPr>
        <a:xfrm>
          <a:off x="0" y="913225"/>
          <a:ext cx="8058150" cy="12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[3] Z. Guo, Y. Li, Y. Wang, H. Liu, R. Guo, J. Ma, X. Wu, D. Jiang, </a:t>
          </a:r>
          <a:r>
            <a:rPr lang="en-US" sz="1300" kern="1200" dirty="0" err="1"/>
            <a:t>T.Ren</a:t>
          </a:r>
          <a:r>
            <a:rPr lang="en-US" sz="1300" kern="1200" dirty="0"/>
            <a:t>, “Intelligent diagnosis and predictive rehabilitation assessment of chronic ankle instability using shoe-integrated sensor system,” IEEE Trans. Neural Syst. </a:t>
          </a:r>
          <a:r>
            <a:rPr lang="en-US" sz="1300" kern="1200" dirty="0" err="1"/>
            <a:t>Rehabil</a:t>
          </a:r>
          <a:r>
            <a:rPr lang="en-US" sz="1300" kern="1200" dirty="0"/>
            <a:t>. Eng., vol. 33, 2025.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[4] B. </a:t>
          </a:r>
          <a:r>
            <a:rPr lang="en-US" sz="1300" kern="1200" dirty="0" err="1"/>
            <a:t>Naets</a:t>
          </a:r>
          <a:r>
            <a:rPr lang="en-US" sz="1300" kern="1200" dirty="0"/>
            <a:t>, Z. Guo, Y. Li, Y. Wang, H. Liu, J. Ma, X. Wu, T. Ren, D. Jiang, and R. Guo, “Smart walker design for clinical rehabilitation,” IEEE,2022, doi:10.1109/ACCESS.2022.2973815. </a:t>
          </a:r>
        </a:p>
      </dsp:txBody>
      <dsp:txXfrm>
        <a:off x="0" y="913225"/>
        <a:ext cx="8058150" cy="1252764"/>
      </dsp:txXfrm>
    </dsp:sp>
    <dsp:sp modelId="{688AB2CF-DAC9-4E84-9848-B4C397B6070C}">
      <dsp:nvSpPr>
        <dsp:cNvPr id="0" name=""/>
        <dsp:cNvSpPr/>
      </dsp:nvSpPr>
      <dsp:spPr>
        <a:xfrm>
          <a:off x="0" y="2165990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C215A-C665-4A2A-80EE-787A6BBE137F}">
      <dsp:nvSpPr>
        <dsp:cNvPr id="0" name=""/>
        <dsp:cNvSpPr/>
      </dsp:nvSpPr>
      <dsp:spPr>
        <a:xfrm>
          <a:off x="0" y="2165990"/>
          <a:ext cx="8058150" cy="1183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[5] M. Mukherjee, A. I. Faisal, N. Balakrishnan, S. Kumar, and M. J. Deen, “An inferential model for understanding the effects of demographic and gait factors and their interactions on the human gait index: A beta regression approach,” IEEE Journal of Biomedical and Health Informatics, vol. 29, no. 10, Oct. 2025.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[6] V. A. </a:t>
          </a:r>
          <a:r>
            <a:rPr lang="en-US" sz="1300" kern="1200" dirty="0" err="1"/>
            <a:t>Arcobelli</a:t>
          </a:r>
          <a:r>
            <a:rPr lang="en-US" sz="1300" kern="1200" dirty="0"/>
            <a:t>, M. </a:t>
          </a:r>
          <a:r>
            <a:rPr lang="en-US" sz="1300" kern="1200" dirty="0" err="1"/>
            <a:t>Zauli</a:t>
          </a:r>
          <a:r>
            <a:rPr lang="en-US" sz="1300" kern="1200" dirty="0"/>
            <a:t>, G. </a:t>
          </a:r>
          <a:r>
            <a:rPr lang="en-US" sz="1300" kern="1200" dirty="0" err="1"/>
            <a:t>Galteri</a:t>
          </a:r>
          <a:r>
            <a:rPr lang="en-US" sz="1300" kern="1200" dirty="0"/>
            <a:t>, L. </a:t>
          </a:r>
          <a:r>
            <a:rPr lang="en-US" sz="1300" kern="1200" dirty="0" err="1"/>
            <a:t>Cristofolini</a:t>
          </a:r>
          <a:r>
            <a:rPr lang="en-US" sz="1300" kern="1200" dirty="0"/>
            <a:t>, L. Chiari, A. Cappello and L. De Marchi,“</a:t>
          </a:r>
          <a:r>
            <a:rPr lang="en-US" sz="1300" kern="1200" dirty="0" err="1"/>
            <a:t>mCrutch</a:t>
          </a:r>
          <a:r>
            <a:rPr lang="en-US" sz="1300" kern="1200" dirty="0"/>
            <a:t>: A Novel m-Health Approach Supporting Continuity of Care,”  Sensors, vol. 23, no. 8, 2023, </a:t>
          </a:r>
          <a:r>
            <a:rPr lang="en-US" sz="1300" kern="1200" dirty="0" err="1"/>
            <a:t>doi</a:t>
          </a:r>
          <a:r>
            <a:rPr lang="en-US" sz="1300" kern="1200" dirty="0"/>
            <a:t>: 10.3390/s23084151.</a:t>
          </a:r>
        </a:p>
      </dsp:txBody>
      <dsp:txXfrm>
        <a:off x="0" y="2165990"/>
        <a:ext cx="8058150" cy="1183059"/>
      </dsp:txXfrm>
    </dsp:sp>
    <dsp:sp modelId="{180A8687-9E6C-4F3A-943F-A4526E04CCB4}">
      <dsp:nvSpPr>
        <dsp:cNvPr id="0" name=""/>
        <dsp:cNvSpPr/>
      </dsp:nvSpPr>
      <dsp:spPr>
        <a:xfrm>
          <a:off x="0" y="3349049"/>
          <a:ext cx="80581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27E8A-FC28-4A79-9E32-03F006403AB9}">
      <dsp:nvSpPr>
        <dsp:cNvPr id="0" name=""/>
        <dsp:cNvSpPr/>
      </dsp:nvSpPr>
      <dsp:spPr>
        <a:xfrm>
          <a:off x="0" y="3349049"/>
          <a:ext cx="8058150" cy="1677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[7] P. P. Sarkar, M. A. Tohin, M. A. Khaled, and M. S. Rahman, “Implementation of an instrumented crutch with scalable E-care architecture using IoT,” in </a:t>
          </a:r>
          <a:r>
            <a:rPr lang="en-US" sz="1300" i="1" kern="1200" dirty="0"/>
            <a:t>Proc. 2020 IEEE Region 10 Symposium (TENSYMP)</a:t>
          </a:r>
          <a:r>
            <a:rPr lang="en-US" sz="1300" kern="1200" dirty="0"/>
            <a:t>, 2020, pp. 242-245.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[8] R. Sugiyama, N. Tsuda, N. Kato, and Y. Nomura, “Modelling of crutch walk training system with falling sensation device,” in </a:t>
          </a:r>
          <a:r>
            <a:rPr lang="en-US" sz="1300" i="1" kern="1200" dirty="0"/>
            <a:t>Proc. 2018 IEEE Int. Conf. Systems, Man, and Cybernetics (SMC)</a:t>
          </a:r>
          <a:r>
            <a:rPr lang="en-US" sz="1300" kern="1200" dirty="0"/>
            <a:t>, 2018.</a:t>
          </a:r>
        </a:p>
      </dsp:txBody>
      <dsp:txXfrm>
        <a:off x="0" y="3349049"/>
        <a:ext cx="8058150" cy="1677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0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/>
            </a:solidFill>
            <a:prstDash val="solid"/>
          </a:ln>
        </p:spPr>
      </p:sp>
      <p:pic>
        <p:nvPicPr>
          <p:cNvPr id="3" name="Image 0" descr="C:\Users\saini\Documents\Codex\2026-04-27\files-mentioned-by-the-user-batch\assets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115671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2084832"/>
            <a:ext cx="1088136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C72"/>
                </a:solidFill>
              </a:rPr>
              <a:t>215EXS2201    Design-Build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2697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dirty="0"/>
              <a:t>Low-Cost Smart Crutch for Safe Injury Rehabilitation and Recovery Monitoring</a:t>
            </a:r>
          </a:p>
        </p:txBody>
      </p:sp>
      <p:sp>
        <p:nvSpPr>
          <p:cNvPr id="7" name="Shape 4"/>
          <p:cNvSpPr/>
          <p:nvPr/>
        </p:nvSpPr>
        <p:spPr>
          <a:xfrm>
            <a:off x="658368" y="3858768"/>
            <a:ext cx="1828800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160520"/>
            <a:ext cx="3794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A34"/>
                </a:solidFill>
              </a:rPr>
              <a:t>Supervisor: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2A34"/>
                </a:solidFill>
              </a:rPr>
              <a:t>Dr.S.Sakthivel,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2A34"/>
                </a:solidFill>
              </a:rPr>
              <a:t>Associate Professor,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2A34"/>
                </a:solidFill>
              </a:rPr>
              <a:t>Department of Biomedical Engineering,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2A34"/>
                </a:solidFill>
              </a:rPr>
              <a:t>KARE.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4800600" y="3977640"/>
            <a:ext cx="6355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02A34"/>
                </a:solidFill>
              </a:rPr>
              <a:t>Research Scholar: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02A34"/>
                </a:solidFill>
              </a:rPr>
              <a:t>TEAM:10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02A34"/>
                </a:solidFill>
              </a:rPr>
              <a:t>Nikhilsai (99240040748), 2nd Year, CSE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02A34"/>
                </a:solidFill>
              </a:rPr>
              <a:t>Kowshik Reddy (99240040758) ,2nd Year, CSE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02A34"/>
                </a:solidFill>
              </a:rPr>
              <a:t>Shanbu Sundar Reddy (99240040550),2nd Year ,CSE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202A34"/>
                </a:solidFill>
              </a:rPr>
              <a:t>Thilak (9924005117), 2nd Year, ECE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14A"/>
                </a:solidFill>
              </a:rPr>
              <a:t>SCHOOL OF ELECTRONICS, ELECTRICAL AND BIOMEDICAL TECHNOLOGY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96C72"/>
                </a:solidFill>
              </a:rPr>
              <a:t>DEPARTMENT OF BIOMEDICAL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2314A"/>
                </a:solidFill>
              </a:rPr>
              <a:t>Rehabilitation after lower limb injuries requires controlled weight bearing and proper gait assistance.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A34"/>
                </a:solidFill>
              </a:rPr>
              <a:t>Traditional crutches provide only physical support, not monitoring.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C72"/>
                </a:solidFill>
              </a:rPr>
              <a:t>Patients often face: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072384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999232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A34"/>
                </a:solidFill>
              </a:rPr>
              <a:t>Incorrect weight application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3232" y="3511296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438144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A34"/>
                </a:solidFill>
              </a:rPr>
              <a:t>Improper walking posture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3232" y="3950208"/>
            <a:ext cx="82296" cy="8229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877056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A34"/>
                </a:solidFill>
              </a:rPr>
              <a:t>Lack of recovery tracking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736592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</a:rPr>
              <a:t>This leads to: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82296" cy="822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999232"/>
            <a:ext cx="3017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A34"/>
                </a:solidFill>
              </a:rPr>
              <a:t>Delayed healing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754880" y="3511296"/>
            <a:ext cx="82296" cy="822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438144"/>
            <a:ext cx="30175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2A34"/>
                </a:solidFill>
              </a:rPr>
              <a:t>Risk of re-injury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882128" y="2578608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DDF5F4"/>
          </a:solidFill>
          <a:ln w="12700">
            <a:solidFill>
              <a:srgbClr val="A6DA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96C72"/>
                </a:solidFill>
              </a:rPr>
              <a:t>Need: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83880" y="3246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14A"/>
                </a:solidFill>
              </a:rPr>
              <a:t>A smart system that guides and monitors rehabilitation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143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14A"/>
                </a:solidFill>
              </a:rPr>
              <a:t>This project proposes an intelligent and personalized smart crutch system designed to support rehabilitation through real-time monitoring and feedback.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066544"/>
            <a:ext cx="1065276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100584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A34"/>
                </a:solidFill>
              </a:rPr>
              <a:t>The system integrates sensors to measure load and detect gait patterns, providing instant vibration-based alerts to users. A mobile application records data, generates progress reports, and enables remote monitoring. Machine learning techniques are incorporated to analyze rehabilitation patterns and predict recovery status.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96C72"/>
                </a:solidFill>
              </a:rPr>
              <a:t>This system transforms a conventional crutch into a smart healthcare assistant, improving recovery safety, efficiency, and personalization.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618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46304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041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34440" y="1371600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develop a smart crutch with load and motion sensing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126480" y="1261872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6304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041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29400" y="1371600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provide real-time feedback using vibration alerts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31520" y="234086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5420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83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34440" y="2450592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design a mobile application for monitoring and tracking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126480" y="234086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5420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83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analyse rehabilitation using AI/ML techniques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731520" y="34198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621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662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34440" y="3529584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enable doctor and guardian monitoring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126480" y="341985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621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662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29400" y="3529584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improve safe and efficient recovery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3152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470001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7411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4440" y="4608576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reduce the risk of incorrect weight bearing and secondary injuries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126480" y="44988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70001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7411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29400" y="4608576"/>
            <a:ext cx="4434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To improve rehabilitation efficiency and recovery time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67202"/>
              </p:ext>
            </p:extLst>
          </p:nvPr>
        </p:nvGraphicFramePr>
        <p:xfrm>
          <a:off x="438912" y="1133856"/>
          <a:ext cx="11292840" cy="4499683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Author(s)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Methodology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Journal Name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Inference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García-Barrios et al.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Cognitive offloading model in human-AI systems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improves decision-making but depends on interaction design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Guo et al.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Shoe-based sensors + ML for gait analysis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TNSRE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Accurate prediction but lacks real-time feedback and assistive support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Varghese et al.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IoT-based smart crutch with sensor monitoring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IJIRSET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Enables remote monitoring but lacks AI-based analysis and real-time feedback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Naets et al.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Smart walker with multi-sensor monitoring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Access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Effective in clinics but lacks portability and AI-based personalization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384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continued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559712"/>
              </p:ext>
            </p:extLst>
          </p:nvPr>
        </p:nvGraphicFramePr>
        <p:xfrm>
          <a:off x="438912" y="1133856"/>
          <a:ext cx="11292840" cy="4435514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Author(s)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Methodology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Journal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Inference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Mukherjee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Beta regression model for gait analysis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JBHI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Accurate gait analysis but lacks real-time assistive feedback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Arcobelli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mHealth-based smart crutch with remote monitoring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Sensors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Supports remote care but lacks AI analysis and real-time feedback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Sarkar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IoT-based smart crutch with e-care architecture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TENSYMP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Enables remote monitoring but lacks AI analysis and real-time feedback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Yang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Multifunctional smart crutch for elderly monitoring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DASC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Improves safety but lacks AI analysis and real-time feedback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384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continued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88400"/>
              </p:ext>
            </p:extLst>
          </p:nvPr>
        </p:nvGraphicFramePr>
        <p:xfrm>
          <a:off x="438912" y="1133856"/>
          <a:ext cx="11292840" cy="4471705"/>
        </p:xfrm>
        <a:graphic>
          <a:graphicData uri="http://schemas.openxmlformats.org/drawingml/2006/table">
            <a:tbl>
              <a:tblPr/>
              <a:tblGrid>
                <a:gridCol w="225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2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Author(s)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Methodology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Journal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Inference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Viegas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Load cells + optical sensors for walker monitoring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Sensors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Accurate monitoring but lacks real-time feedback and AI integration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Chen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Instrumented smart crutches for rehab &amp; exoskeleton support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BIOROB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Improves assistive support but lacks AI analysis and real-time feedback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Kyritsis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Smart device-based gait recognition system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AI4I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Enables gait analysis but lacks real-time feedback and assistive integration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2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Sugiyama et 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Crutch training system with fall simulation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SMC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Improves training but lacks real-time monitoring and AI-based analysis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Method Disadvantages 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23444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40360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4447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34416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No real-time monitoring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40360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44475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12280" y="134416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No feedback system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68680" y="219456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3637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4048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30428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No gait analysis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309360" y="219456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3637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4048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12280" y="230428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No recovery tracking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3154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3238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3649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26440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No AI-based insights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309360" y="3154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3238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3649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12280" y="3264408"/>
            <a:ext cx="4160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No remote doctor monitoring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1234440" y="4800600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64545"/>
                </a:solidFill>
              </a:rPr>
              <a:t>Patients depend only on guesswork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Method (Block Diagram):-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41832"/>
            <a:ext cx="58978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pic>
        <p:nvPicPr>
          <p:cNvPr id="10" name="Image 0" descr="C:\Users\saini\Documents\Codex\2026-04-27\files-mentioned-by-the-user-batch\assets\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987552"/>
            <a:ext cx="58064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21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Sensor data collection (Load + Motion)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323697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6908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Data processing using ESP32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02589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Real-time transmission via Bluetooth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8814816" y="2093976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182880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07568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1168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64692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Data storage in mobile app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214884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5176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ML-based analysis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07492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7784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Feedback generation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8001000" y="4069080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31596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43571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03920" y="4178808"/>
            <a:ext cx="1783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Cloud synchronization</a:t>
            </a:r>
            <a:endParaRPr lang="en-US" sz="134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C7659B63-F88B-813D-2FEB-98679BAE079E}"/>
              </a:ext>
            </a:extLst>
          </p:cNvPr>
          <p:cNvSpPr/>
          <p:nvPr/>
        </p:nvSpPr>
        <p:spPr>
          <a:xfrm>
            <a:off x="4695765" y="4343400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54826140-A118-51F0-DD5D-569C055D6A7B}"/>
              </a:ext>
            </a:extLst>
          </p:cNvPr>
          <p:cNvSpPr/>
          <p:nvPr/>
        </p:nvSpPr>
        <p:spPr>
          <a:xfrm>
            <a:off x="7607808" y="4355913"/>
            <a:ext cx="201168" cy="20116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 of Methodology:-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15214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335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76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261872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Load sensor measures applied weight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63640" y="115214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33502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7617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66560" y="1261872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MPU6050 detects motion and gait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77240" y="2139696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32257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3637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80160" y="2249424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ESP32 processes sensor data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63640" y="2139696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32257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3637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0" y="2249424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Bluetooth sends data to mobile app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777240" y="312724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3101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3512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280160" y="3236976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App analyzes and stores data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263640" y="312724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101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3512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3236976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ML predicts recovery status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77240" y="41148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29768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3388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80160" y="422452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Vibration alerts notify incorrect usage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6263640" y="411480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297680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3388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0" y="4224528"/>
            <a:ext cx="4251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Cloud enables remote monitoring</a:t>
            </a:r>
            <a:endParaRPr lang="en-US" sz="13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Work:-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389888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6093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504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499616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Advanced AI prediction models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63640" y="1389888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609344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504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66560" y="1499616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Real-time doctor dashboard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68680" y="2468880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6883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7294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578608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Voice assistance for patients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688336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2948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66560" y="2578608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Clinical testing and validation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3547872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DDF5F4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7673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8084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71600" y="3657600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App development with cloud storage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263640" y="3547872"/>
            <a:ext cx="4800600" cy="694944"/>
          </a:xfrm>
          <a:prstGeom prst="roundRect">
            <a:avLst>
              <a:gd name="adj" fmla="val 10526"/>
            </a:avLst>
          </a:prstGeom>
          <a:solidFill>
            <a:srgbClr val="F8FBFD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767328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8084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3657600"/>
            <a:ext cx="4160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2A34"/>
                </a:solidFill>
              </a:rPr>
              <a:t>Startup-level product development</a:t>
            </a:r>
            <a:endParaRPr lang="en-US" sz="13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327648"/>
            <a:ext cx="11064240" cy="0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841248"/>
            <a:ext cx="1261872" cy="0"/>
          </a:xfrm>
          <a:prstGeom prst="line">
            <a:avLst/>
          </a:prstGeom>
          <a:noFill/>
          <a:ln w="381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</a:rPr>
              <a:t>Design-Build | Smart Crutch System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45952" y="6382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96C7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2" name="Content Placeholder 1">
            <a:extLst>
              <a:ext uri="{FF2B5EF4-FFF2-40B4-BE49-F238E27FC236}">
                <a16:creationId xmlns:a16="http://schemas.microsoft.com/office/drawing/2014/main" id="{BE4998A2-81F8-99AC-1287-E9F592898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2678450"/>
              </p:ext>
            </p:extLst>
          </p:nvPr>
        </p:nvGraphicFramePr>
        <p:xfrm>
          <a:off x="1828800" y="1069848"/>
          <a:ext cx="805815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1336</Words>
  <Application>Microsoft Office PowerPoint</Application>
  <PresentationFormat>Widescreen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Kalasalingam Academy of Research and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Crutch System for Injury Rehabilitation</dc:title>
  <dc:subject>Design and Development of a Smart Crutch System for Injury Rehabilitation</dc:subject>
  <dc:creator>Team 10</dc:creator>
  <cp:lastModifiedBy>nikhil sai</cp:lastModifiedBy>
  <cp:revision>3</cp:revision>
  <dcterms:created xsi:type="dcterms:W3CDTF">2026-04-27T17:06:30Z</dcterms:created>
  <dcterms:modified xsi:type="dcterms:W3CDTF">2026-04-30T10:57:25Z</dcterms:modified>
</cp:coreProperties>
</file>