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1E77A-17B5-424C-8DA8-A240C1931479}" v="5" dt="2026-04-30T10:57:17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ai" userId="72e3e0b6fd12e361" providerId="LiveId" clId="{F898C08E-F426-4AD8-A295-1D63E45155CB}"/>
    <pc:docChg chg="custSel delSld modSld">
      <pc:chgData name="nikhil sai" userId="72e3e0b6fd12e361" providerId="LiveId" clId="{F898C08E-F426-4AD8-A295-1D63E45155CB}" dt="2026-04-30T10:57:17.306" v="41"/>
      <pc:docMkLst>
        <pc:docMk/>
      </pc:docMkLst>
      <pc:sldChg chg="modSp mod">
        <pc:chgData name="nikhil sai" userId="72e3e0b6fd12e361" providerId="LiveId" clId="{F898C08E-F426-4AD8-A295-1D63E45155CB}" dt="2026-04-30T10:57:17.306" v="41"/>
        <pc:sldMkLst>
          <pc:docMk/>
          <pc:sldMk cId="0" sldId="256"/>
        </pc:sldMkLst>
        <pc:spChg chg="mod">
          <ac:chgData name="nikhil sai" userId="72e3e0b6fd12e361" providerId="LiveId" clId="{F898C08E-F426-4AD8-A295-1D63E45155CB}" dt="2026-04-30T10:57:17.306" v="41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nikhil sai" userId="72e3e0b6fd12e361" providerId="LiveId" clId="{F898C08E-F426-4AD8-A295-1D63E45155CB}" dt="2026-04-27T17:13:15.550" v="3" actId="27636"/>
        <pc:sldMkLst>
          <pc:docMk/>
          <pc:sldMk cId="0" sldId="257"/>
        </pc:sldMkLst>
        <pc:spChg chg="mod">
          <ac:chgData name="nikhil sai" userId="72e3e0b6fd12e361" providerId="LiveId" clId="{F898C08E-F426-4AD8-A295-1D63E45155CB}" dt="2026-04-27T17:13:15.550" v="3" actId="2763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nikhil sai" userId="72e3e0b6fd12e361" providerId="LiveId" clId="{F898C08E-F426-4AD8-A295-1D63E45155CB}" dt="2026-04-27T17:18:32.914" v="20" actId="404"/>
        <pc:sldMkLst>
          <pc:docMk/>
          <pc:sldMk cId="0" sldId="260"/>
        </pc:sldMkLst>
        <pc:graphicFrameChg chg="modGraphic">
          <ac:chgData name="nikhil sai" userId="72e3e0b6fd12e361" providerId="LiveId" clId="{F898C08E-F426-4AD8-A295-1D63E45155CB}" dt="2026-04-27T17:18:32.914" v="20" actId="404"/>
          <ac:graphicFrameMkLst>
            <pc:docMk/>
            <pc:sldMk cId="0" sldId="260"/>
            <ac:graphicFrameMk id="9" creationId="{00000000-0000-0000-0000-000000000000}"/>
          </ac:graphicFrameMkLst>
        </pc:graphicFrameChg>
      </pc:sldChg>
      <pc:sldChg chg="modSp mod">
        <pc:chgData name="nikhil sai" userId="72e3e0b6fd12e361" providerId="LiveId" clId="{F898C08E-F426-4AD8-A295-1D63E45155CB}" dt="2026-04-27T17:19:06.339" v="29" actId="404"/>
        <pc:sldMkLst>
          <pc:docMk/>
          <pc:sldMk cId="0" sldId="261"/>
        </pc:sldMkLst>
        <pc:graphicFrameChg chg="modGraphic">
          <ac:chgData name="nikhil sai" userId="72e3e0b6fd12e361" providerId="LiveId" clId="{F898C08E-F426-4AD8-A295-1D63E45155CB}" dt="2026-04-27T17:19:06.339" v="29" actId="404"/>
          <ac:graphicFrameMkLst>
            <pc:docMk/>
            <pc:sldMk cId="0" sldId="261"/>
            <ac:graphicFrameMk id="10" creationId="{00000000-0000-0000-0000-000000000000}"/>
          </ac:graphicFrameMkLst>
        </pc:graphicFrameChg>
      </pc:sldChg>
      <pc:sldChg chg="modSp mod">
        <pc:chgData name="nikhil sai" userId="72e3e0b6fd12e361" providerId="LiveId" clId="{F898C08E-F426-4AD8-A295-1D63E45155CB}" dt="2026-04-27T17:19:22.445" v="36" actId="403"/>
        <pc:sldMkLst>
          <pc:docMk/>
          <pc:sldMk cId="0" sldId="262"/>
        </pc:sldMkLst>
        <pc:graphicFrameChg chg="modGraphic">
          <ac:chgData name="nikhil sai" userId="72e3e0b6fd12e361" providerId="LiveId" clId="{F898C08E-F426-4AD8-A295-1D63E45155CB}" dt="2026-04-27T17:19:22.445" v="36" actId="403"/>
          <ac:graphicFrameMkLst>
            <pc:docMk/>
            <pc:sldMk cId="0" sldId="262"/>
            <ac:graphicFrameMk id="10" creationId="{00000000-0000-0000-0000-000000000000}"/>
          </ac:graphicFrameMkLst>
        </pc:graphicFrameChg>
      </pc:sldChg>
      <pc:sldChg chg="addSp modSp mod">
        <pc:chgData name="nikhil sai" userId="72e3e0b6fd12e361" providerId="LiveId" clId="{F898C08E-F426-4AD8-A295-1D63E45155CB}" dt="2026-04-27T17:14:37.330" v="11" actId="1076"/>
        <pc:sldMkLst>
          <pc:docMk/>
          <pc:sldMk cId="0" sldId="265"/>
        </pc:sldMkLst>
        <pc:spChg chg="add mod">
          <ac:chgData name="nikhil sai" userId="72e3e0b6fd12e361" providerId="LiveId" clId="{F898C08E-F426-4AD8-A295-1D63E45155CB}" dt="2026-04-27T17:14:29.476" v="9" actId="1076"/>
          <ac:spMkLst>
            <pc:docMk/>
            <pc:sldMk cId="0" sldId="265"/>
            <ac:spMk id="40" creationId="{C7659B63-F88B-813D-2FEB-98679BAE079E}"/>
          </ac:spMkLst>
        </pc:spChg>
        <pc:spChg chg="add mod">
          <ac:chgData name="nikhil sai" userId="72e3e0b6fd12e361" providerId="LiveId" clId="{F898C08E-F426-4AD8-A295-1D63E45155CB}" dt="2026-04-27T17:14:37.330" v="11" actId="1076"/>
          <ac:spMkLst>
            <pc:docMk/>
            <pc:sldMk cId="0" sldId="265"/>
            <ac:spMk id="41" creationId="{54826140-A118-51F0-DD5D-569C055D6A7B}"/>
          </ac:spMkLst>
        </pc:spChg>
      </pc:sldChg>
      <pc:sldChg chg="del">
        <pc:chgData name="nikhil sai" userId="72e3e0b6fd12e361" providerId="LiveId" clId="{F898C08E-F426-4AD8-A295-1D63E45155CB}" dt="2026-04-30T10:55:44.386" v="37" actId="2696"/>
        <pc:sldMkLst>
          <pc:docMk/>
          <pc:sldMk cId="0" sldId="268"/>
        </pc:sldMkLst>
      </pc:sldChg>
      <pc:sldChg chg="del">
        <pc:chgData name="nikhil sai" userId="72e3e0b6fd12e361" providerId="LiveId" clId="{F898C08E-F426-4AD8-A295-1D63E45155CB}" dt="2026-04-30T10:55:46.571" v="38" actId="2696"/>
        <pc:sldMkLst>
          <pc:docMk/>
          <pc:sldMk cId="0" sldId="269"/>
        </pc:sldMkLst>
      </pc:sldChg>
      <pc:sldChg chg="addSp delSp modSp mod">
        <pc:chgData name="nikhil sai" userId="72e3e0b6fd12e361" providerId="LiveId" clId="{F898C08E-F426-4AD8-A295-1D63E45155CB}" dt="2026-04-27T17:13:50.215" v="7" actId="1076"/>
        <pc:sldMkLst>
          <pc:docMk/>
          <pc:sldMk cId="0" sldId="270"/>
        </pc:sldMkLst>
        <pc:graphicFrameChg chg="add mod">
          <ac:chgData name="nikhil sai" userId="72e3e0b6fd12e361" providerId="LiveId" clId="{F898C08E-F426-4AD8-A295-1D63E45155CB}" dt="2026-04-27T17:13:50.215" v="7" actId="1076"/>
          <ac:graphicFrameMkLst>
            <pc:docMk/>
            <pc:sldMk cId="0" sldId="270"/>
            <ac:graphicFrameMk id="12" creationId="{BE4998A2-81F8-99AC-1287-E9F592898295}"/>
          </ac:graphicFrameMkLst>
        </pc:graphicFrameChg>
      </pc:sldChg>
      <pc:sldChg chg="del">
        <pc:chgData name="nikhil sai" userId="72e3e0b6fd12e361" providerId="LiveId" clId="{F898C08E-F426-4AD8-A295-1D63E45155CB}" dt="2026-04-30T10:55:49.881" v="39" actId="2696"/>
        <pc:sldMkLst>
          <pc:docMk/>
          <pc:sldMk cId="0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04A5E-B2AA-4054-A7B4-036B3C731B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5A26E8-8E5A-43B0-B907-090D37F1D481}">
      <dgm:prSet/>
      <dgm:spPr/>
      <dgm:t>
        <a:bodyPr/>
        <a:lstStyle/>
        <a:p>
          <a:r>
            <a:rPr lang="en-US" dirty="0"/>
            <a:t>[1] D. A. García-Barrios, “Epistemic partner or cognitive crutch: A conceptual model of cognitive offloading in human–artificial intelligence collaboration,” </a:t>
          </a:r>
          <a:r>
            <a:rPr lang="en-US" i="1" dirty="0"/>
            <a:t>IEEE</a:t>
          </a:r>
          <a:r>
            <a:rPr lang="en-US" dirty="0"/>
            <a:t>, pp. 7–8, Jan. 2026, </a:t>
          </a:r>
          <a:r>
            <a:rPr lang="en-US" dirty="0" err="1"/>
            <a:t>doi</a:t>
          </a:r>
          <a:r>
            <a:rPr lang="en-US" dirty="0"/>
            <a:t>: 10.1109/MIC.2025.3626694. </a:t>
          </a:r>
        </a:p>
        <a:p>
          <a:r>
            <a:rPr lang="en-US" dirty="0"/>
            <a:t>[2] R. Varghese, Ananya R., N. V., Sagarika T. H., and Sanjana N., “Smart crutches using IOT,” Int. J. </a:t>
          </a:r>
          <a:r>
            <a:rPr lang="en-US" dirty="0" err="1"/>
            <a:t>Innov</a:t>
          </a:r>
          <a:r>
            <a:rPr lang="en-US" dirty="0"/>
            <a:t>. Res. Sci. Eng. Technol. (IJIRSET), vol. 13, no. 8, pp. 15549-15551, Aug. 2024. </a:t>
          </a:r>
        </a:p>
      </dgm:t>
    </dgm:pt>
    <dgm:pt modelId="{0E2600A5-8518-48DF-879E-A010C546A328}" type="parTrans" cxnId="{5378A769-E806-48EC-BA11-F21A1D382149}">
      <dgm:prSet/>
      <dgm:spPr/>
      <dgm:t>
        <a:bodyPr/>
        <a:lstStyle/>
        <a:p>
          <a:endParaRPr lang="en-US"/>
        </a:p>
      </dgm:t>
    </dgm:pt>
    <dgm:pt modelId="{81109511-41B1-43D6-A782-B3F48E1FAC66}" type="sibTrans" cxnId="{5378A769-E806-48EC-BA11-F21A1D382149}">
      <dgm:prSet/>
      <dgm:spPr/>
      <dgm:t>
        <a:bodyPr/>
        <a:lstStyle/>
        <a:p>
          <a:endParaRPr lang="en-US"/>
        </a:p>
      </dgm:t>
    </dgm:pt>
    <dgm:pt modelId="{43ED1D35-E235-475D-9FE7-4F0EF98110B1}">
      <dgm:prSet/>
      <dgm:spPr/>
      <dgm:t>
        <a:bodyPr/>
        <a:lstStyle/>
        <a:p>
          <a:r>
            <a:rPr lang="en-US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r>
            <a:rPr lang="en-US" dirty="0"/>
            <a:t>[6] V. A. </a:t>
          </a:r>
          <a:r>
            <a:rPr lang="en-US" dirty="0" err="1"/>
            <a:t>Arcobelli</a:t>
          </a:r>
          <a:r>
            <a:rPr lang="en-US" dirty="0"/>
            <a:t>, M. </a:t>
          </a:r>
          <a:r>
            <a:rPr lang="en-US" dirty="0" err="1"/>
            <a:t>Zauli</a:t>
          </a:r>
          <a:r>
            <a:rPr lang="en-US" dirty="0"/>
            <a:t>, G. </a:t>
          </a:r>
          <a:r>
            <a:rPr lang="en-US" dirty="0" err="1"/>
            <a:t>Galteri</a:t>
          </a:r>
          <a:r>
            <a:rPr lang="en-US" dirty="0"/>
            <a:t>, L. </a:t>
          </a:r>
          <a:r>
            <a:rPr lang="en-US" dirty="0" err="1"/>
            <a:t>Cristofolini</a:t>
          </a:r>
          <a:r>
            <a:rPr lang="en-US" dirty="0"/>
            <a:t>, L. Chiari, A. Cappello and L. De Marchi,“</a:t>
          </a:r>
          <a:r>
            <a:rPr lang="en-US" dirty="0" err="1"/>
            <a:t>mCrutch</a:t>
          </a:r>
          <a:r>
            <a:rPr lang="en-US" dirty="0"/>
            <a:t>: A Novel m-Health Approach Supporting Continuity of Care,”  Sensors, vol. 23, no. 8, 2023, </a:t>
          </a:r>
          <a:r>
            <a:rPr lang="en-US" dirty="0" err="1"/>
            <a:t>doi</a:t>
          </a:r>
          <a:r>
            <a:rPr lang="en-US" dirty="0"/>
            <a:t>: 10.3390/s23084151.</a:t>
          </a:r>
        </a:p>
      </dgm:t>
    </dgm:pt>
    <dgm:pt modelId="{9DCC5BE0-320A-4C87-9FF2-8B517D37D543}" type="parTrans" cxnId="{68253415-C7F4-4B37-9029-43910D8DE008}">
      <dgm:prSet/>
      <dgm:spPr/>
      <dgm:t>
        <a:bodyPr/>
        <a:lstStyle/>
        <a:p>
          <a:endParaRPr lang="en-US"/>
        </a:p>
      </dgm:t>
    </dgm:pt>
    <dgm:pt modelId="{75B0883E-C814-4D75-9A8D-4F1A0AB9D3FF}" type="sibTrans" cxnId="{68253415-C7F4-4B37-9029-43910D8DE008}">
      <dgm:prSet/>
      <dgm:spPr/>
      <dgm:t>
        <a:bodyPr/>
        <a:lstStyle/>
        <a:p>
          <a:endParaRPr lang="en-US"/>
        </a:p>
      </dgm:t>
    </dgm:pt>
    <dgm:pt modelId="{8D69A132-56F6-4CC6-80A7-F34A0AA8B551}">
      <dgm:prSet/>
      <dgm:spPr/>
      <dgm:t>
        <a:bodyPr/>
        <a:lstStyle/>
        <a:p>
          <a:r>
            <a:rPr lang="en-US" dirty="0"/>
            <a:t>[7] P. P. Sarkar, M. A. Tohin, M. A. Khaled, and M. S. Rahman, “Implementation of an instrumented crutch with scalable E-care architecture using IoT,” in </a:t>
          </a:r>
          <a:r>
            <a:rPr lang="en-US" i="1" dirty="0"/>
            <a:t>Proc. 2020 IEEE Region 10 Symposium (TENSYMP)</a:t>
          </a:r>
          <a:r>
            <a:rPr lang="en-US" dirty="0"/>
            <a:t>, 2020, pp. 242-245. </a:t>
          </a:r>
        </a:p>
        <a:p>
          <a:r>
            <a:rPr lang="en-US" dirty="0"/>
            <a:t>[8] R. Sugiyama, N. Tsuda, N. Kato, and Y. Nomura, “Modelling of crutch walk training system with falling sensation device,” in </a:t>
          </a:r>
          <a:r>
            <a:rPr lang="en-US" i="1" dirty="0"/>
            <a:t>Proc. 2018 IEEE Int. Conf. Systems, Man, and Cybernetics (SMC)</a:t>
          </a:r>
          <a:r>
            <a:rPr lang="en-US" dirty="0"/>
            <a:t>, 2018.</a:t>
          </a:r>
        </a:p>
      </dgm:t>
    </dgm:pt>
    <dgm:pt modelId="{EAF422DF-ECA2-4EC0-A0C0-CC881AD8F8F2}" type="parTrans" cxnId="{E1B1E759-85AC-4145-BB51-BA35F4E79D8D}">
      <dgm:prSet/>
      <dgm:spPr/>
      <dgm:t>
        <a:bodyPr/>
        <a:lstStyle/>
        <a:p>
          <a:endParaRPr lang="en-US"/>
        </a:p>
      </dgm:t>
    </dgm:pt>
    <dgm:pt modelId="{8A78D220-7066-404D-A32E-774A6EB97DA4}" type="sibTrans" cxnId="{E1B1E759-85AC-4145-BB51-BA35F4E79D8D}">
      <dgm:prSet/>
      <dgm:spPr/>
      <dgm:t>
        <a:bodyPr/>
        <a:lstStyle/>
        <a:p>
          <a:endParaRPr lang="en-US"/>
        </a:p>
      </dgm:t>
    </dgm:pt>
    <dgm:pt modelId="{5E78B03F-4F60-4B45-A4F5-851622CE1CCB}">
      <dgm:prSet/>
      <dgm:spPr/>
      <dgm:t>
        <a:bodyPr/>
        <a:lstStyle/>
        <a:p>
          <a:r>
            <a:rPr lang="en-US" dirty="0"/>
            <a:t>[3] Z. Guo, Y. Li, Y. Wang, H. Liu, R. Guo, J. Ma, X. Wu, D. Jiang, </a:t>
          </a:r>
          <a:r>
            <a:rPr lang="en-US" dirty="0" err="1"/>
            <a:t>T.Ren</a:t>
          </a:r>
          <a:r>
            <a:rPr lang="en-US" dirty="0"/>
            <a:t>, “Intelligent diagnosis and predictive rehabilitation assessment of chronic ankle instability using shoe-integrated sensor system,” IEEE Trans. Neural Syst. </a:t>
          </a:r>
          <a:r>
            <a:rPr lang="en-US" dirty="0" err="1"/>
            <a:t>Rehabil</a:t>
          </a:r>
          <a:r>
            <a:rPr lang="en-US" dirty="0"/>
            <a:t>. Eng., vol. 33, 2025.</a:t>
          </a:r>
        </a:p>
        <a:p>
          <a:r>
            <a:rPr lang="en-US" dirty="0"/>
            <a:t> [4] B. </a:t>
          </a:r>
          <a:r>
            <a:rPr lang="en-US" dirty="0" err="1"/>
            <a:t>Naets</a:t>
          </a:r>
          <a:r>
            <a:rPr lang="en-US" dirty="0"/>
            <a:t>, Z. Guo, Y. Li, Y. Wang, H. Liu, J. Ma, X. Wu, T. Ren, D. Jiang, and R. Guo, “Smart walker design for clinical rehabilitation,” IEEE,2022, doi:10.1109/ACCESS.2022.2973815. </a:t>
          </a:r>
        </a:p>
      </dgm:t>
    </dgm:pt>
    <dgm:pt modelId="{6D77A1BD-5499-4DAA-B766-0133DC676BC0}" type="parTrans" cxnId="{F8D8056B-68D8-4D45-85CB-0D6106153F99}">
      <dgm:prSet/>
      <dgm:spPr/>
      <dgm:t>
        <a:bodyPr/>
        <a:lstStyle/>
        <a:p>
          <a:endParaRPr lang="en-IN"/>
        </a:p>
      </dgm:t>
    </dgm:pt>
    <dgm:pt modelId="{F842C45C-E243-474A-A6D2-8AC5D1EA7D78}" type="sibTrans" cxnId="{F8D8056B-68D8-4D45-85CB-0D6106153F99}">
      <dgm:prSet/>
      <dgm:spPr/>
      <dgm:t>
        <a:bodyPr/>
        <a:lstStyle/>
        <a:p>
          <a:endParaRPr lang="en-IN"/>
        </a:p>
      </dgm:t>
    </dgm:pt>
    <dgm:pt modelId="{B1113A3E-CB05-42A1-B85B-E3503A06CB0B}" type="pres">
      <dgm:prSet presAssocID="{A5C04A5E-B2AA-4054-A7B4-036B3C731BFF}" presName="vert0" presStyleCnt="0">
        <dgm:presLayoutVars>
          <dgm:dir/>
          <dgm:animOne val="branch"/>
          <dgm:animLvl val="lvl"/>
        </dgm:presLayoutVars>
      </dgm:prSet>
      <dgm:spPr/>
    </dgm:pt>
    <dgm:pt modelId="{F632A448-F53A-4E90-80BA-B18CDBC02BCB}" type="pres">
      <dgm:prSet presAssocID="{3E5A26E8-8E5A-43B0-B907-090D37F1D481}" presName="thickLine" presStyleLbl="alignNode1" presStyleIdx="0" presStyleCnt="4"/>
      <dgm:spPr/>
    </dgm:pt>
    <dgm:pt modelId="{C651CEF8-96B9-4F04-9461-5A207A94E265}" type="pres">
      <dgm:prSet presAssocID="{3E5A26E8-8E5A-43B0-B907-090D37F1D481}" presName="horz1" presStyleCnt="0"/>
      <dgm:spPr/>
    </dgm:pt>
    <dgm:pt modelId="{696DE360-45FD-49CB-9D40-1B0935DEB859}" type="pres">
      <dgm:prSet presAssocID="{3E5A26E8-8E5A-43B0-B907-090D37F1D481}" presName="tx1" presStyleLbl="revTx" presStyleIdx="0" presStyleCnt="4" custScaleY="54274"/>
      <dgm:spPr/>
    </dgm:pt>
    <dgm:pt modelId="{61B44B71-19AF-4FBB-9609-8BE31565728F}" type="pres">
      <dgm:prSet presAssocID="{3E5A26E8-8E5A-43B0-B907-090D37F1D481}" presName="vert1" presStyleCnt="0"/>
      <dgm:spPr/>
    </dgm:pt>
    <dgm:pt modelId="{1C3C043C-D26A-4C68-B5D5-9F8877398A9F}" type="pres">
      <dgm:prSet presAssocID="{5E78B03F-4F60-4B45-A4F5-851622CE1CCB}" presName="thickLine" presStyleLbl="alignNode1" presStyleIdx="1" presStyleCnt="4"/>
      <dgm:spPr/>
    </dgm:pt>
    <dgm:pt modelId="{990A7CD0-0071-419B-A114-65C41BEFDBCE}" type="pres">
      <dgm:prSet presAssocID="{5E78B03F-4F60-4B45-A4F5-851622CE1CCB}" presName="horz1" presStyleCnt="0"/>
      <dgm:spPr/>
    </dgm:pt>
    <dgm:pt modelId="{B6F2A402-C23A-4B92-B179-8C53CA717EDC}" type="pres">
      <dgm:prSet presAssocID="{5E78B03F-4F60-4B45-A4F5-851622CE1CCB}" presName="tx1" presStyleLbl="revTx" presStyleIdx="1" presStyleCnt="4" custScaleY="74693"/>
      <dgm:spPr/>
    </dgm:pt>
    <dgm:pt modelId="{A8529619-94A0-4D16-B958-C4A0C4DD0590}" type="pres">
      <dgm:prSet presAssocID="{5E78B03F-4F60-4B45-A4F5-851622CE1CCB}" presName="vert1" presStyleCnt="0"/>
      <dgm:spPr/>
    </dgm:pt>
    <dgm:pt modelId="{688AB2CF-DAC9-4E84-9848-B4C397B6070C}" type="pres">
      <dgm:prSet presAssocID="{43ED1D35-E235-475D-9FE7-4F0EF98110B1}" presName="thickLine" presStyleLbl="alignNode1" presStyleIdx="2" presStyleCnt="4"/>
      <dgm:spPr/>
    </dgm:pt>
    <dgm:pt modelId="{6E833D09-717C-487F-A9B0-30E9B9A4E1B2}" type="pres">
      <dgm:prSet presAssocID="{43ED1D35-E235-475D-9FE7-4F0EF98110B1}" presName="horz1" presStyleCnt="0"/>
      <dgm:spPr/>
    </dgm:pt>
    <dgm:pt modelId="{0CFC215A-C665-4A2A-80EE-787A6BBE137F}" type="pres">
      <dgm:prSet presAssocID="{43ED1D35-E235-475D-9FE7-4F0EF98110B1}" presName="tx1" presStyleLbl="revTx" presStyleIdx="2" presStyleCnt="4" custScaleY="70537"/>
      <dgm:spPr/>
    </dgm:pt>
    <dgm:pt modelId="{4EED796C-562B-4679-8105-6D30226D4F44}" type="pres">
      <dgm:prSet presAssocID="{43ED1D35-E235-475D-9FE7-4F0EF98110B1}" presName="vert1" presStyleCnt="0"/>
      <dgm:spPr/>
    </dgm:pt>
    <dgm:pt modelId="{180A8687-9E6C-4F3A-943F-A4526E04CCB4}" type="pres">
      <dgm:prSet presAssocID="{8D69A132-56F6-4CC6-80A7-F34A0AA8B551}" presName="thickLine" presStyleLbl="alignNode1" presStyleIdx="3" presStyleCnt="4"/>
      <dgm:spPr/>
    </dgm:pt>
    <dgm:pt modelId="{FB3A31B2-5423-4109-93D8-C7C202D47EAC}" type="pres">
      <dgm:prSet presAssocID="{8D69A132-56F6-4CC6-80A7-F34A0AA8B551}" presName="horz1" presStyleCnt="0"/>
      <dgm:spPr/>
    </dgm:pt>
    <dgm:pt modelId="{F2227E8A-FC28-4A79-9E32-03F006403AB9}" type="pres">
      <dgm:prSet presAssocID="{8D69A132-56F6-4CC6-80A7-F34A0AA8B551}" presName="tx1" presStyleLbl="revTx" presStyleIdx="3" presStyleCnt="4"/>
      <dgm:spPr/>
    </dgm:pt>
    <dgm:pt modelId="{5C5CDA4D-64E1-409D-9E51-13B394000A27}" type="pres">
      <dgm:prSet presAssocID="{8D69A132-56F6-4CC6-80A7-F34A0AA8B551}" presName="vert1" presStyleCnt="0"/>
      <dgm:spPr/>
    </dgm:pt>
  </dgm:ptLst>
  <dgm:cxnLst>
    <dgm:cxn modelId="{68253415-C7F4-4B37-9029-43910D8DE008}" srcId="{A5C04A5E-B2AA-4054-A7B4-036B3C731BFF}" destId="{43ED1D35-E235-475D-9FE7-4F0EF98110B1}" srcOrd="2" destOrd="0" parTransId="{9DCC5BE0-320A-4C87-9FF2-8B517D37D543}" sibTransId="{75B0883E-C814-4D75-9A8D-4F1A0AB9D3FF}"/>
    <dgm:cxn modelId="{6C548125-F556-452F-A203-092AE14814D1}" type="presOf" srcId="{43ED1D35-E235-475D-9FE7-4F0EF98110B1}" destId="{0CFC215A-C665-4A2A-80EE-787A6BBE137F}" srcOrd="0" destOrd="0" presId="urn:microsoft.com/office/officeart/2008/layout/LinedList"/>
    <dgm:cxn modelId="{A6AD152D-2221-4778-9EEA-6DE3DB1AB35E}" type="presOf" srcId="{3E5A26E8-8E5A-43B0-B907-090D37F1D481}" destId="{696DE360-45FD-49CB-9D40-1B0935DEB859}" srcOrd="0" destOrd="0" presId="urn:microsoft.com/office/officeart/2008/layout/LinedList"/>
    <dgm:cxn modelId="{E2BE1F44-A854-4640-8510-19C71D422F6A}" type="presOf" srcId="{5E78B03F-4F60-4B45-A4F5-851622CE1CCB}" destId="{B6F2A402-C23A-4B92-B179-8C53CA717EDC}" srcOrd="0" destOrd="0" presId="urn:microsoft.com/office/officeart/2008/layout/LinedList"/>
    <dgm:cxn modelId="{5378A769-E806-48EC-BA11-F21A1D382149}" srcId="{A5C04A5E-B2AA-4054-A7B4-036B3C731BFF}" destId="{3E5A26E8-8E5A-43B0-B907-090D37F1D481}" srcOrd="0" destOrd="0" parTransId="{0E2600A5-8518-48DF-879E-A010C546A328}" sibTransId="{81109511-41B1-43D6-A782-B3F48E1FAC66}"/>
    <dgm:cxn modelId="{F8D8056B-68D8-4D45-85CB-0D6106153F99}" srcId="{A5C04A5E-B2AA-4054-A7B4-036B3C731BFF}" destId="{5E78B03F-4F60-4B45-A4F5-851622CE1CCB}" srcOrd="1" destOrd="0" parTransId="{6D77A1BD-5499-4DAA-B766-0133DC676BC0}" sibTransId="{F842C45C-E243-474A-A6D2-8AC5D1EA7D78}"/>
    <dgm:cxn modelId="{E1B1E759-85AC-4145-BB51-BA35F4E79D8D}" srcId="{A5C04A5E-B2AA-4054-A7B4-036B3C731BFF}" destId="{8D69A132-56F6-4CC6-80A7-F34A0AA8B551}" srcOrd="3" destOrd="0" parTransId="{EAF422DF-ECA2-4EC0-A0C0-CC881AD8F8F2}" sibTransId="{8A78D220-7066-404D-A32E-774A6EB97DA4}"/>
    <dgm:cxn modelId="{CFB66E82-50AD-40D7-A758-835C4542B929}" type="presOf" srcId="{A5C04A5E-B2AA-4054-A7B4-036B3C731BFF}" destId="{B1113A3E-CB05-42A1-B85B-E3503A06CB0B}" srcOrd="0" destOrd="0" presId="urn:microsoft.com/office/officeart/2008/layout/LinedList"/>
    <dgm:cxn modelId="{14CF72C2-AA72-4CAF-BBE7-12F7096B8468}" type="presOf" srcId="{8D69A132-56F6-4CC6-80A7-F34A0AA8B551}" destId="{F2227E8A-FC28-4A79-9E32-03F006403AB9}" srcOrd="0" destOrd="0" presId="urn:microsoft.com/office/officeart/2008/layout/LinedList"/>
    <dgm:cxn modelId="{84B2B132-5301-42C0-9530-89B9B26BFE0D}" type="presParOf" srcId="{B1113A3E-CB05-42A1-B85B-E3503A06CB0B}" destId="{F632A448-F53A-4E90-80BA-B18CDBC02BCB}" srcOrd="0" destOrd="0" presId="urn:microsoft.com/office/officeart/2008/layout/LinedList"/>
    <dgm:cxn modelId="{2E40A28D-26C6-4016-B8A9-703D3B37DCB3}" type="presParOf" srcId="{B1113A3E-CB05-42A1-B85B-E3503A06CB0B}" destId="{C651CEF8-96B9-4F04-9461-5A207A94E265}" srcOrd="1" destOrd="0" presId="urn:microsoft.com/office/officeart/2008/layout/LinedList"/>
    <dgm:cxn modelId="{38871396-3C02-4E03-82B6-66ECD971243B}" type="presParOf" srcId="{C651CEF8-96B9-4F04-9461-5A207A94E265}" destId="{696DE360-45FD-49CB-9D40-1B0935DEB859}" srcOrd="0" destOrd="0" presId="urn:microsoft.com/office/officeart/2008/layout/LinedList"/>
    <dgm:cxn modelId="{A749B848-B41E-4E5B-B233-1E6D6DB0A74A}" type="presParOf" srcId="{C651CEF8-96B9-4F04-9461-5A207A94E265}" destId="{61B44B71-19AF-4FBB-9609-8BE31565728F}" srcOrd="1" destOrd="0" presId="urn:microsoft.com/office/officeart/2008/layout/LinedList"/>
    <dgm:cxn modelId="{2C2D62BA-2F59-412C-B146-EA34A7A81E47}" type="presParOf" srcId="{B1113A3E-CB05-42A1-B85B-E3503A06CB0B}" destId="{1C3C043C-D26A-4C68-B5D5-9F8877398A9F}" srcOrd="2" destOrd="0" presId="urn:microsoft.com/office/officeart/2008/layout/LinedList"/>
    <dgm:cxn modelId="{BAB55469-C369-40E7-B524-16755814883E}" type="presParOf" srcId="{B1113A3E-CB05-42A1-B85B-E3503A06CB0B}" destId="{990A7CD0-0071-419B-A114-65C41BEFDBCE}" srcOrd="3" destOrd="0" presId="urn:microsoft.com/office/officeart/2008/layout/LinedList"/>
    <dgm:cxn modelId="{D8ADF9C4-A520-445E-B59A-8758966DB9F5}" type="presParOf" srcId="{990A7CD0-0071-419B-A114-65C41BEFDBCE}" destId="{B6F2A402-C23A-4B92-B179-8C53CA717EDC}" srcOrd="0" destOrd="0" presId="urn:microsoft.com/office/officeart/2008/layout/LinedList"/>
    <dgm:cxn modelId="{B9AF4022-E2B6-4D9A-B747-35D62587F69B}" type="presParOf" srcId="{990A7CD0-0071-419B-A114-65C41BEFDBCE}" destId="{A8529619-94A0-4D16-B958-C4A0C4DD0590}" srcOrd="1" destOrd="0" presId="urn:microsoft.com/office/officeart/2008/layout/LinedList"/>
    <dgm:cxn modelId="{F64CA62A-045A-4DB9-8B24-523316763913}" type="presParOf" srcId="{B1113A3E-CB05-42A1-B85B-E3503A06CB0B}" destId="{688AB2CF-DAC9-4E84-9848-B4C397B6070C}" srcOrd="4" destOrd="0" presId="urn:microsoft.com/office/officeart/2008/layout/LinedList"/>
    <dgm:cxn modelId="{E19F2E21-5F7B-4D9C-9555-D611CD4E1A5B}" type="presParOf" srcId="{B1113A3E-CB05-42A1-B85B-E3503A06CB0B}" destId="{6E833D09-717C-487F-A9B0-30E9B9A4E1B2}" srcOrd="5" destOrd="0" presId="urn:microsoft.com/office/officeart/2008/layout/LinedList"/>
    <dgm:cxn modelId="{1EDF7A52-6E30-4ACE-962B-1227E1FECE54}" type="presParOf" srcId="{6E833D09-717C-487F-A9B0-30E9B9A4E1B2}" destId="{0CFC215A-C665-4A2A-80EE-787A6BBE137F}" srcOrd="0" destOrd="0" presId="urn:microsoft.com/office/officeart/2008/layout/LinedList"/>
    <dgm:cxn modelId="{93CC2C71-25EC-4142-BC14-0E960FE04042}" type="presParOf" srcId="{6E833D09-717C-487F-A9B0-30E9B9A4E1B2}" destId="{4EED796C-562B-4679-8105-6D30226D4F44}" srcOrd="1" destOrd="0" presId="urn:microsoft.com/office/officeart/2008/layout/LinedList"/>
    <dgm:cxn modelId="{6B0F6AB1-3AF0-4E48-B505-BED826E30EBF}" type="presParOf" srcId="{B1113A3E-CB05-42A1-B85B-E3503A06CB0B}" destId="{180A8687-9E6C-4F3A-943F-A4526E04CCB4}" srcOrd="6" destOrd="0" presId="urn:microsoft.com/office/officeart/2008/layout/LinedList"/>
    <dgm:cxn modelId="{8B2375DF-ABBF-4951-8E7A-27CFB33BF2E3}" type="presParOf" srcId="{B1113A3E-CB05-42A1-B85B-E3503A06CB0B}" destId="{FB3A31B2-5423-4109-93D8-C7C202D47EAC}" srcOrd="7" destOrd="0" presId="urn:microsoft.com/office/officeart/2008/layout/LinedList"/>
    <dgm:cxn modelId="{E603DE6A-637F-4FBB-A41A-23A4FAF3DEE7}" type="presParOf" srcId="{FB3A31B2-5423-4109-93D8-C7C202D47EAC}" destId="{F2227E8A-FC28-4A79-9E32-03F006403AB9}" srcOrd="0" destOrd="0" presId="urn:microsoft.com/office/officeart/2008/layout/LinedList"/>
    <dgm:cxn modelId="{2A7F89F2-F0C3-4E47-B2C7-16920F98FC9C}" type="presParOf" srcId="{FB3A31B2-5423-4109-93D8-C7C202D47EAC}" destId="{5C5CDA4D-64E1-409D-9E51-13B394000A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2A448-F53A-4E90-80BA-B18CDBC02BCB}">
      <dsp:nvSpPr>
        <dsp:cNvPr id="0" name=""/>
        <dsp:cNvSpPr/>
      </dsp:nvSpPr>
      <dsp:spPr>
        <a:xfrm>
          <a:off x="0" y="2931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DE360-45FD-49CB-9D40-1B0935DEB859}">
      <dsp:nvSpPr>
        <dsp:cNvPr id="0" name=""/>
        <dsp:cNvSpPr/>
      </dsp:nvSpPr>
      <dsp:spPr>
        <a:xfrm>
          <a:off x="0" y="2931"/>
          <a:ext cx="8058150" cy="91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[1] D. A. García-Barrios, “Epistemic partner or cognitive crutch: A conceptual model of cognitive offloading in human–artificial intelligence collaboration,” </a:t>
          </a:r>
          <a:r>
            <a:rPr lang="en-US" sz="1300" i="1" kern="1200" dirty="0"/>
            <a:t>IEEE</a:t>
          </a:r>
          <a:r>
            <a:rPr lang="en-US" sz="1300" kern="1200" dirty="0"/>
            <a:t>, pp. 7–8, Jan. 2026, </a:t>
          </a:r>
          <a:r>
            <a:rPr lang="en-US" sz="1300" kern="1200" dirty="0" err="1"/>
            <a:t>doi</a:t>
          </a:r>
          <a:r>
            <a:rPr lang="en-US" sz="1300" kern="1200" dirty="0"/>
            <a:t>: 10.1109/MIC.2025.3626694.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[2] R. Varghese, Ananya R., N. V., Sagarika T. H., and Sanjana N., “Smart crutches using IOT,” Int. J. </a:t>
          </a:r>
          <a:r>
            <a:rPr lang="en-US" sz="1300" kern="1200" dirty="0" err="1"/>
            <a:t>Innov</a:t>
          </a:r>
          <a:r>
            <a:rPr lang="en-US" sz="1300" kern="1200" dirty="0"/>
            <a:t>. Res. Sci. Eng. Technol. (IJIRSET), vol. 13, no. 8, pp. 15549-15551, Aug. 2024. </a:t>
          </a:r>
        </a:p>
      </dsp:txBody>
      <dsp:txXfrm>
        <a:off x="0" y="2931"/>
        <a:ext cx="8058150" cy="910293"/>
      </dsp:txXfrm>
    </dsp:sp>
    <dsp:sp modelId="{1C3C043C-D26A-4C68-B5D5-9F8877398A9F}">
      <dsp:nvSpPr>
        <dsp:cNvPr id="0" name=""/>
        <dsp:cNvSpPr/>
      </dsp:nvSpPr>
      <dsp:spPr>
        <a:xfrm>
          <a:off x="0" y="913225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2A402-C23A-4B92-B179-8C53CA717EDC}">
      <dsp:nvSpPr>
        <dsp:cNvPr id="0" name=""/>
        <dsp:cNvSpPr/>
      </dsp:nvSpPr>
      <dsp:spPr>
        <a:xfrm>
          <a:off x="0" y="913225"/>
          <a:ext cx="8058150" cy="12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[3] Z. Guo, Y. Li, Y. Wang, H. Liu, R. Guo, J. Ma, X. Wu, D. Jiang, </a:t>
          </a:r>
          <a:r>
            <a:rPr lang="en-US" sz="1300" kern="1200" dirty="0" err="1"/>
            <a:t>T.Ren</a:t>
          </a:r>
          <a:r>
            <a:rPr lang="en-US" sz="1300" kern="1200" dirty="0"/>
            <a:t>, “Intelligent diagnosis and predictive rehabilitation assessment of chronic ankle instability using shoe-integrated sensor system,” IEEE Trans. Neural Syst. </a:t>
          </a:r>
          <a:r>
            <a:rPr lang="en-US" sz="1300" kern="1200" dirty="0" err="1"/>
            <a:t>Rehabil</a:t>
          </a:r>
          <a:r>
            <a:rPr lang="en-US" sz="1300" kern="1200" dirty="0"/>
            <a:t>. Eng., vol. 33, 2025.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[4] B. </a:t>
          </a:r>
          <a:r>
            <a:rPr lang="en-US" sz="1300" kern="1200" dirty="0" err="1"/>
            <a:t>Naets</a:t>
          </a:r>
          <a:r>
            <a:rPr lang="en-US" sz="1300" kern="1200" dirty="0"/>
            <a:t>, Z. Guo, Y. Li, Y. Wang, H. Liu, J. Ma, X. Wu, T. Ren, D. Jiang, and R. Guo, “Smart walker design for clinical rehabilitation,” IEEE,2022, doi:10.1109/ACCESS.2022.2973815. </a:t>
          </a:r>
        </a:p>
      </dsp:txBody>
      <dsp:txXfrm>
        <a:off x="0" y="913225"/>
        <a:ext cx="8058150" cy="1252764"/>
      </dsp:txXfrm>
    </dsp:sp>
    <dsp:sp modelId="{688AB2CF-DAC9-4E84-9848-B4C397B6070C}">
      <dsp:nvSpPr>
        <dsp:cNvPr id="0" name=""/>
        <dsp:cNvSpPr/>
      </dsp:nvSpPr>
      <dsp:spPr>
        <a:xfrm>
          <a:off x="0" y="2165990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C215A-C665-4A2A-80EE-787A6BBE137F}">
      <dsp:nvSpPr>
        <dsp:cNvPr id="0" name=""/>
        <dsp:cNvSpPr/>
      </dsp:nvSpPr>
      <dsp:spPr>
        <a:xfrm>
          <a:off x="0" y="2165990"/>
          <a:ext cx="8058150" cy="11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[6] V. A. </a:t>
          </a:r>
          <a:r>
            <a:rPr lang="en-US" sz="1300" kern="1200" dirty="0" err="1"/>
            <a:t>Arcobelli</a:t>
          </a:r>
          <a:r>
            <a:rPr lang="en-US" sz="1300" kern="1200" dirty="0"/>
            <a:t>, M. </a:t>
          </a:r>
          <a:r>
            <a:rPr lang="en-US" sz="1300" kern="1200" dirty="0" err="1"/>
            <a:t>Zauli</a:t>
          </a:r>
          <a:r>
            <a:rPr lang="en-US" sz="1300" kern="1200" dirty="0"/>
            <a:t>, G. </a:t>
          </a:r>
          <a:r>
            <a:rPr lang="en-US" sz="1300" kern="1200" dirty="0" err="1"/>
            <a:t>Galteri</a:t>
          </a:r>
          <a:r>
            <a:rPr lang="en-US" sz="1300" kern="1200" dirty="0"/>
            <a:t>, L. </a:t>
          </a:r>
          <a:r>
            <a:rPr lang="en-US" sz="1300" kern="1200" dirty="0" err="1"/>
            <a:t>Cristofolini</a:t>
          </a:r>
          <a:r>
            <a:rPr lang="en-US" sz="1300" kern="1200" dirty="0"/>
            <a:t>, L. Chiari, A. Cappello and L. De Marchi,“</a:t>
          </a:r>
          <a:r>
            <a:rPr lang="en-US" sz="1300" kern="1200" dirty="0" err="1"/>
            <a:t>mCrutch</a:t>
          </a:r>
          <a:r>
            <a:rPr lang="en-US" sz="1300" kern="1200" dirty="0"/>
            <a:t>: A Novel m-Health Approach Supporting Continuity of Care,”  Sensors, vol. 23, no. 8, 2023, </a:t>
          </a:r>
          <a:r>
            <a:rPr lang="en-US" sz="1300" kern="1200" dirty="0" err="1"/>
            <a:t>doi</a:t>
          </a:r>
          <a:r>
            <a:rPr lang="en-US" sz="1300" kern="1200" dirty="0"/>
            <a:t>: 10.3390/s23084151.</a:t>
          </a:r>
        </a:p>
      </dsp:txBody>
      <dsp:txXfrm>
        <a:off x="0" y="2165990"/>
        <a:ext cx="8058150" cy="1183059"/>
      </dsp:txXfrm>
    </dsp:sp>
    <dsp:sp modelId="{180A8687-9E6C-4F3A-943F-A4526E04CCB4}">
      <dsp:nvSpPr>
        <dsp:cNvPr id="0" name=""/>
        <dsp:cNvSpPr/>
      </dsp:nvSpPr>
      <dsp:spPr>
        <a:xfrm>
          <a:off x="0" y="3349049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27E8A-FC28-4A79-9E32-03F006403AB9}">
      <dsp:nvSpPr>
        <dsp:cNvPr id="0" name=""/>
        <dsp:cNvSpPr/>
      </dsp:nvSpPr>
      <dsp:spPr>
        <a:xfrm>
          <a:off x="0" y="3349049"/>
          <a:ext cx="8058150" cy="1677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[7] P. P. Sarkar, M. A. Tohin, M. A. Khaled, and M. S. Rahman, “Implementation of an instrumented crutch with scalable E-care architecture using IoT,” in </a:t>
          </a:r>
          <a:r>
            <a:rPr lang="en-US" sz="1300" i="1" kern="1200" dirty="0"/>
            <a:t>Proc. 2020 IEEE Region 10 Symposium (TENSYMP)</a:t>
          </a:r>
          <a:r>
            <a:rPr lang="en-US" sz="1300" kern="1200" dirty="0"/>
            <a:t>, 2020, pp. 242-245.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[8] R. Sugiyama, N. Tsuda, N. Kato, and Y. Nomura, “Modelling of crutch walk training system with falling sensation device,” in </a:t>
          </a:r>
          <a:r>
            <a:rPr lang="en-US" sz="1300" i="1" kern="1200" dirty="0"/>
            <a:t>Proc. 2018 IEEE Int. Conf. Systems, Man, and Cybernetics (SMC)</a:t>
          </a:r>
          <a:r>
            <a:rPr lang="en-US" sz="1300" kern="1200" dirty="0"/>
            <a:t>, 2018.</a:t>
          </a:r>
        </a:p>
      </dsp:txBody>
      <dsp:txXfrm>
        <a:off x="0" y="3349049"/>
        <a:ext cx="8058150" cy="1677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0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/>
            </a:solidFill>
            <a:prstDash val="solid"/>
          </a:ln>
        </p:spPr>
      </p:sp>
      <p:pic>
        <p:nvPicPr>
          <p:cNvPr id="3" name="Image 0" descr="C:\Users\saini\Documents\Codex\2026-04-27\files-mentioned-by-the-user-batch\assets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115671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2084832"/>
            <a:ext cx="1088136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CSP 2026-27 | Community Service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2697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AgriSeva-AI: Multilingual Farmer Query Support, Decision-Support Platform &amp; India-Wide Mandi Price Intelligence</a:t>
            </a:r>
          </a:p>
        </p:txBody>
      </p:sp>
      <p:sp>
        <p:nvSpPr>
          <p:cNvPr id="7" name="Shape 4"/>
          <p:cNvSpPr/>
          <p:nvPr/>
        </p:nvSpPr>
        <p:spPr>
          <a:xfrm>
            <a:off x="658368" y="3858768"/>
            <a:ext cx="18288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160520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Project Supervisors:</a:t>
            </a:r>
            <a:endParaRPr lang="en-US" sz="1220" dirty="0"/>
          </a:p>
          <a:p>
            <a:pPr marL="0" indent="0">
              <a:buNone/>
            </a:pPr>
            <a:r>
              <a:t>Faculty Project Supervisor &amp; CSP Committee,</a:t>
            </a:r>
            <a:endParaRPr lang="en-US" sz="1220" dirty="0"/>
          </a:p>
          <a:p>
            <a:pPr marL="0" indent="0">
              <a:buNone/>
            </a:pPr>
            <a:r>
              <a:t>Department of Computer Science &amp; Engineering,</a:t>
            </a:r>
            <a:endParaRPr lang="en-US" sz="1220" dirty="0"/>
          </a:p>
          <a:p>
            <a:pPr marL="0" indent="0">
              <a:buNone/>
            </a:pPr>
            <a:r>
              <a:t>Kalasalingam Academy of Research and Education (KARE).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4800600" y="3977640"/>
            <a:ext cx="6355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Research Scholars / Project Team:</a:t>
            </a:r>
            <a:endParaRPr lang="en-US" sz="1080" dirty="0"/>
          </a:p>
          <a:p>
            <a:pPr marL="0" indent="0">
              <a:buNone/>
            </a:pPr>
            <a:r>
              <a:t>TEAM AGRISEVA-AI</a:t>
            </a:r>
            <a:endParaRPr lang="en-US" sz="1080" dirty="0"/>
          </a:p>
          <a:p>
            <a:pPr marL="0" indent="0">
              <a:buNone/>
            </a:pPr>
            <a:r>
              <a:t>Nikhilsai (99240040748), 2nd Year, CSE</a:t>
            </a:r>
            <a:endParaRPr lang="en-US" sz="1080" dirty="0"/>
          </a:p>
          <a:p>
            <a:pPr marL="0" indent="0">
              <a:buNone/>
            </a:pPr>
            <a:r>
              <a:t>Kowshik Reddy (99240040758), 2nd Year, CSE</a:t>
            </a:r>
            <a:endParaRPr lang="en-US" sz="1080" dirty="0"/>
          </a:p>
          <a:p>
            <a:pPr marL="0" indent="0">
              <a:buNone/>
            </a:pPr>
            <a:r>
              <a:t>Shanbu Sundar Reddy (992400550), 2nd Year, CSE</a:t>
            </a:r>
            <a:endParaRPr lang="en-US" sz="1080" dirty="0"/>
          </a:p>
          <a:p>
            <a:pPr marL="0" indent="0">
              <a:buNone/>
            </a:pPr>
            <a:r>
              <a:t>Thilak (9924005117), 2nd Year, ECE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SCHOOL OF COMPUTING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DEPARTMENT OF COMPUTER SCIENCE AND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PROBLEM STATEMENT &amp; COMMUNITY CONTEXT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t>Smallholder farmers across rural India experience severe information asymmetry, delayed agricultural extension, and economic exploitation.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Conventional manual extension services reach less than 15% of smallholders due to high agent-to-farmer ratios.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Farmers face critical gaps in: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072384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2999232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Real-time localized agronomic advice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3232" y="3511296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7824" y="3438144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Transparent India-Wide Mandi price discovery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3232" y="3950208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7824" y="3877056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Verified chemical safety guidance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73659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Impact on Community: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82296" cy="822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19472" y="2999232"/>
            <a:ext cx="3017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Crop loss &amp; poor input selection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754880" y="3511296"/>
            <a:ext cx="82296" cy="822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19472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Asymmetric middleman pricing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882128" y="2578608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DDF5F4"/>
          </a:solidFill>
          <a:ln w="12700">
            <a:solidFill>
              <a:srgbClr val="A6DAD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Core Need: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3246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An accessible, AI-powered multilingual platform offering instant decision support, market price intelligence, and expert human escalation.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ABSTRACT &amp; SYSTEM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143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This project presents AgriSeva-AI, an intelligent, multi-channel decision-support platform engineered to empower smallholder farming communities through real-time advisory, voice assistance, and price transparency.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066544"/>
            <a:ext cx="1065276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423160"/>
            <a:ext cx="100584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t>The architecture integrates LlamaIndex Retrieval-Augmented Generation (RAG), FastMCP microservices, Plivo voice telephony, and live Agmarknet mandi commodity price tools. An automated Chemical Safety Guard verifies pesticide recommendations against banned toxicity lists, while low-confidence queries escalate to Primary Agricultural Experts (PAE).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AgriSeva-AI transforms traditional extension into a safe, transparent, and highly accessible digital ecosystem, enhancing crop yields and farmer livelihoods.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PROJECT OBJECTIVES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618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146304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5041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34440" y="1371600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build a multilingual GenAI RAG engine supporting voice and text query resolution in regional languages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126480" y="12618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15041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29400" y="1371600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provide India-Wide Mandi crop price intelligence via Agmarknet FastMCP microservice tools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31520" y="234086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25420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2583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2450592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enforce domain safety by auditing chemical recommendations against banned pesticide registries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126480" y="234086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63640" y="25420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63640" y="2583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implement an automated PAE expert escalation queue with workload balancing and SLA timers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731520" y="34198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3621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3662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34440" y="3529584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integrate district-level IMD weather forecasts and soil health nutrient verification metrics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126480" y="34198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263640" y="3621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63640" y="3662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29400" y="3529584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empower smallholders with actionable agricultural decision support and fair price discovery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3152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68680" y="470001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68680" y="47411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4440" y="4608576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mitigate toxic chemical hazards and prevent crop failure from delayed extension support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12648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263640" y="470001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263640" y="47411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29400" y="4608576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evaluate community impact, query resolution trends, and system SLA through admin dashboards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LITERATURE REVIEW: CORE BENCHMARKS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67202"/>
              </p:ext>
            </p:extLst>
          </p:nvPr>
        </p:nvGraphicFramePr>
        <p:xfrm>
          <a:off x="438912" y="1133856"/>
          <a:ext cx="11292840" cy="4499683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460">
                <a:tc>
                  <a:txBody>
                    <a:bodyPr/>
                    <a:lstStyle/>
                    <a:p>
                      <a:r>
                        <a:t>Author(s) &amp; Ref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Methodology &amp; Approach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Journal / Publisher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 Contribution &amp; Research Gap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Singh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Farmer.Chat: RAG + GenAI for smallholders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arXiv:2409.08916v2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Scales voice advisory to 15k+ farmers; lacks live mandi market price discovery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Owhal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AgriSaathi: LLMs &amp; Multimodal AI Survey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IJFMR (Vol 7, Issue 6)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Outlines LLM-RAG multimodal vision; lacks automated chemical safety guardrails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Kumbhar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Agrimitraa: Multilingual LLM Assistant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IJNRD (Vol 11, Issue 3)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Demonstrates Indic language prompting; lacks human expert escalation queues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Usip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Multilingual Farm Advisory &amp; Safety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Academic Journal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Highlights pesticide toxicity risks; lacks vector RAG and live price integration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LITERATURE REVIEW: SYSTEM COMPARISONS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0" y="384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Evaluation of Agricultural AI &amp; Decision Systems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559712"/>
              </p:ext>
            </p:extLst>
          </p:nvPr>
        </p:nvGraphicFramePr>
        <p:xfrm>
          <a:off x="438912" y="1133856"/>
          <a:ext cx="11292840" cy="4435514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291">
                <a:tc>
                  <a:txBody>
                    <a:bodyPr/>
                    <a:lstStyle/>
                    <a:p>
                      <a:r>
                        <a:t>Author(s)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Methodology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Journal / Publisher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Inference &amp; Gap Addressed by AgriSeva-AI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Chaurpagar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AgriTech: Multilingual Advisory System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IRJIET (Vol 10, Issue 5)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Effective localized advisory; lacks modular FastMCP microservice architecture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Srivastava &amp; Patel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AI-Based Farmer Query Support System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IJCRT (Vol 14, Issue 4)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Demonstrates RAG utility; lacks real-time voice call telephony integration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Digital Green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 Extension Agent Assistant Platform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Research Report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Assists human agents; lacks direct farmer price transparency tools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ICAR / Agmarknet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Government Market Data Portal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Govt Report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Provides raw market prices; lacks natural language conversational query interface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RESEARCH GAP ANALYSIS &amp; SYSTEM POSITIONING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0" y="384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Comparison of Existing Studies vs. AgriSeva-AI Solution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88400"/>
              </p:ext>
            </p:extLst>
          </p:nvPr>
        </p:nvGraphicFramePr>
        <p:xfrm>
          <a:off x="438912" y="1133856"/>
          <a:ext cx="11292840" cy="4471705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207">
                <a:tc>
                  <a:txBody>
                    <a:bodyPr/>
                    <a:lstStyle/>
                    <a:p>
                      <a:r>
                        <a:t>Advisory Dimension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Existing Research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Identified Research Gap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AgriSeva-AI Solution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Market Intelligence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Static web portals / manual visits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conversational price access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FastMCP Agmarknet Mandi price tool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Chemical Safety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Unverified LLM text output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Risk of toxic pesticide advice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Automated Chemical Safety Guard check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Expert Escalation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Fully automated AI or manual queues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 hallucinations on complex cases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PAE Expert Escalation with SLA tracking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Voice Telephony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Text-only web interfaces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Inaccessible to illiterate farmers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Plivo WebSockets &amp; Sarvam Voice Hotline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LIMITATIONS OF CONVENTIONAL ADVISORY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23444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05840" y="140360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4447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34416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Lack of transparent, conversational India-Wide Mandi price discovery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46520" y="140360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46520" y="14447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12280" y="134416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Absence of automated chemical toxicity and banned pesticide verification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68680" y="219456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3637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4048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30428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No human expert escalation mechanism for ambiguous or edge-case AI outputs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309360" y="219456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46520" y="23637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46520" y="24048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12280" y="230428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Lack of interactive voice telephony interfaces accessible to illiterate farmers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3154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05840" y="33238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5840" y="33649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26440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Fragmented integration of soil nutrient data and real-time IMD weather alerts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309360" y="3154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46520" y="33238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46520" y="33649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12280" y="326440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No expert workload balancing or review SLA tracking in conventional extension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1234440" y="4800600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Farmers suffer from crop failure, health risks, and middleman price exploitation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AGRISEVA-AI SYSTEM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41832"/>
            <a:ext cx="58978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C:\Users\saini\Documents\Codex\2026-04-27\files-mentioned-by-the-user-batch\assets\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987552"/>
            <a:ext cx="58064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21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PROPOSED SYSTEM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Multi-channel Query Ingestion (Web, Plivo Voice Call Hotline, WhatsApp)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323697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0332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0332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6908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Indic Speech Translation &amp; Intent Classification (Sarvam AI + Gemma)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02589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5508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224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FastMCP Tool Execution (Agmarknet Mandi Prices, IMD Weather, Soil Health)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881481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4400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8116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8116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64692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Vector Retrieval-Augmented Generation (LlamaIndex + PyMongo Vector Store)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214884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28600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28600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5176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Chemical Safety Guard Audit (Banned Pesticides Database Registry)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07492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21208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21208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7784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Confidence Evaluation &amp; Automated PAE Expert Escalation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800100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13816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13816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0392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Multi-channel Response Dispatch &amp; Admin Dashboard Analytics Tracking</a:t>
            </a:r>
            <a:endParaRPr lang="en-US" sz="134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C7659B63-F88B-813D-2FEB-98679BAE079E}"/>
              </a:ext>
            </a:extLst>
          </p:cNvPr>
          <p:cNvSpPr/>
          <p:nvPr/>
        </p:nvSpPr>
        <p:spPr>
          <a:xfrm>
            <a:off x="4695765" y="4343400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54826140-A118-51F0-DD5D-569C055D6A7B}"/>
              </a:ext>
            </a:extLst>
          </p:cNvPr>
          <p:cNvSpPr/>
          <p:nvPr/>
        </p:nvSpPr>
        <p:spPr>
          <a:xfrm>
            <a:off x="7607808" y="4355913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DETAILED MODULE BREAKDOWN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15214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1335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376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261872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Plivo Telephony &amp; Audio Streaming: Handles voice calls via WebSocket audio streams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63640" y="115214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1335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376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66560" y="1261872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India-Wide Mandi Price Tool: Fetches live Agmarknet market commodity prices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77240" y="2139696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232257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23637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80160" y="2249424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LlamaIndex RAG Engine: Retrieves agronomic knowledge from vector database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63640" y="2139696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232257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0" y="23637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0" y="2249424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Chemical Safety Guardrail: Verifies pesticide advice against banned toxicity registry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777240" y="312724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4400" y="33101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33512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80160" y="3236976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PAE Escalation Queue: Routes complex queries to human experts with SLA timers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263640" y="312724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0" y="33101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33512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3236976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IMD Weather &amp; Soil Verification: Checks district climate data &amp; NPK soil guidelines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77240" y="41148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14400" y="429768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4400" y="43388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80160" y="422452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Semantic LLM Cache Proxy: Delivers sub-50ms cache hits for repetitive queries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263640" y="41148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400800" y="429768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0" y="43388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0" y="422452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Admin &amp; Performance Dashboard: Tracks expert heatmaps, queue TAT, and metrics</a:t>
            </a:r>
            <a:endParaRPr lang="en-US" sz="13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IMPLEMENTATION STATUS &amp; 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389888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05840" y="16093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6504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499616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Core FastMCP RAG Engine &amp; Vector Search Infrastructure [Implemented]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63640" y="1389888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16093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6504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66560" y="1499616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India-Wide Mandi Commodity Market Price Feature [Implemented]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68680" y="2468880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6883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7294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578608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Plivo Voice Telephony &amp; WebSocket Audio Streaming [Implemented]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26883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0" y="27294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0" y="2578608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Chemical Safety Guardrail &amp; Compliance Verification System [Implemented]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3547872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05840" y="37673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5840" y="38084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657600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PAE Expert Escalation Queue &amp; Admin Analytics Dashboard [Implemented]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263640" y="3547872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0" y="37673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38084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3657600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AI Price Trend Prediction Models &amp; Crop Calendar Reminders [Future Scope]</a:t>
            </a:r>
            <a:endParaRPr lang="en-US" sz="13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ACADEMIC REFERENCES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13</a:t>
            </a:r>
            <a:endParaRPr lang="en-US" sz="1000" dirty="0"/>
          </a:p>
        </p:txBody>
      </p:sp>
      <p:graphicFrame>
        <p:nvGraphicFramePr>
          <p:cNvPr id="12" name="Content Placeholder 1">
            <a:extLst>
              <a:ext uri="{FF2B5EF4-FFF2-40B4-BE49-F238E27FC236}">
                <a16:creationId xmlns:a16="http://schemas.microsoft.com/office/drawing/2014/main" id="{BE4998A2-81F8-99AC-1287-E9F592898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2678450"/>
              </p:ext>
            </p:extLst>
          </p:nvPr>
        </p:nvGraphicFramePr>
        <p:xfrm>
          <a:off x="1828800" y="1069848"/>
          <a:ext cx="805815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828800" y="1069848"/>
            <a:ext cx="805815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1. Singh et al. (2024). Farmer.Chat: Scaling AI-Powered Agricultural Services for Smallholder Farmers. arXiv:2409.08916v2.</a:t>
            </a:r>
          </a:p>
          <a:p>
            <a:pPr>
              <a:defRPr sz="1100"/>
            </a:pPr>
            <a:r>
              <a:t>2. Owhal et al. (2025). AgriSaathi: A Survey on Large Language Models and Multimodal AI for Agricultural Advisory Systems. IJFMR, 7(6).</a:t>
            </a:r>
          </a:p>
          <a:p>
            <a:pPr>
              <a:defRPr sz="1100"/>
            </a:pPr>
            <a:r>
              <a:t>3. Kumbhar et al. (2026). Agrimitraa: A Multilingual Context-Aware Agricultural Assistant Using Large Language Models. IJNRD, 11(3).</a:t>
            </a:r>
          </a:p>
          <a:p>
            <a:pPr>
              <a:defRPr sz="1100"/>
            </a:pPr>
            <a:r>
              <a:t>4. Chaurpagar et al. (2026). Agri Tech: An AI-Powered Multilingual Farmer Advisory System for Smart Decision-Making. IRJIET, 10(5).</a:t>
            </a:r>
          </a:p>
          <a:p>
            <a:pPr>
              <a:defRPr sz="1100"/>
            </a:pPr>
            <a:r>
              <a:t>5. Usip et al. (2024). An Intelligent Multilingual Farm Advisory System for Controlling Hazardous Pesticide Effects. Academic Journal.</a:t>
            </a:r>
          </a:p>
          <a:p>
            <a:pPr>
              <a:defRPr sz="1100"/>
            </a:pPr>
            <a:r>
              <a:t>6. Srivastava &amp; Patel (2026). AI-Based Farmer Query Support and Advisory System. IJCRT, 14(4).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1336</Words>
  <Application>Microsoft Office PowerPoint</Application>
  <PresentationFormat>Widescreen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Kalasalingam Academy of Research and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Crutch System for Injury Rehabilitation</dc:title>
  <dc:subject>Design and Development of a Smart Crutch System for Injury Rehabilitation</dc:subject>
  <dc:creator>Team 10</dc:creator>
  <cp:lastModifiedBy>nikhil sai</cp:lastModifiedBy>
  <cp:revision>3</cp:revision>
  <dcterms:created xsi:type="dcterms:W3CDTF">2026-04-27T17:06:30Z</dcterms:created>
  <dcterms:modified xsi:type="dcterms:W3CDTF">2026-04-30T10:57:25Z</dcterms:modified>
</cp:coreProperties>
</file>